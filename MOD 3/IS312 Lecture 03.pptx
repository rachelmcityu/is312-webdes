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7" r:id="rId1"/>
  </p:sldMasterIdLst>
  <p:notesMasterIdLst>
    <p:notesMasterId r:id="rId16"/>
  </p:notesMasterIdLst>
  <p:sldIdLst>
    <p:sldId id="277" r:id="rId2"/>
    <p:sldId id="275" r:id="rId3"/>
    <p:sldId id="278" r:id="rId4"/>
    <p:sldId id="279" r:id="rId5"/>
    <p:sldId id="282" r:id="rId6"/>
    <p:sldId id="284" r:id="rId7"/>
    <p:sldId id="283" r:id="rId8"/>
    <p:sldId id="280" r:id="rId9"/>
    <p:sldId id="281" r:id="rId10"/>
    <p:sldId id="285" r:id="rId11"/>
    <p:sldId id="286" r:id="rId12"/>
    <p:sldId id="287" r:id="rId13"/>
    <p:sldId id="288" r:id="rId14"/>
    <p:sldId id="276"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FE44F72-D7B3-41EB-977B-2E401710A9A8}">
  <a:tblStyle styleId="{1FE44F72-D7B3-41EB-977B-2E401710A9A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510" autoAdjust="0"/>
  </p:normalViewPr>
  <p:slideViewPr>
    <p:cSldViewPr snapToGrid="0">
      <p:cViewPr varScale="1">
        <p:scale>
          <a:sx n="79" d="100"/>
          <a:sy n="79" d="100"/>
        </p:scale>
        <p:origin x="108"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Welcome, everyone. Up to this point, we have used HTML and CSS to create static layouts. Today, we introduce JavaScript—the execution layer that transforms static document objects into dynamic, programmable applications, setting the stage for modern frameworks like React.</a:t>
            </a:r>
          </a:p>
        </p:txBody>
      </p:sp>
    </p:spTree>
    <p:extLst>
      <p:ext uri="{BB962C8B-B14F-4D97-AF65-F5344CB8AC3E}">
        <p14:creationId xmlns:p14="http://schemas.microsoft.com/office/powerpoint/2010/main" val="1874276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To run JavaScript in a browser, we embed or link it using the </a:t>
            </a:r>
            <a:r>
              <a:rPr lang="en-US" sz="1100" b="0" i="0" u="none" strike="noStrike" cap="none" dirty="0">
                <a:solidFill>
                  <a:srgbClr val="000000"/>
                </a:solidFill>
                <a:latin typeface="Arial"/>
                <a:ea typeface="Arial"/>
                <a:cs typeface="Arial"/>
                <a:sym typeface="Arial"/>
              </a:rPr>
              <a:t>&lt;script&gt;</a:t>
            </a:r>
            <a:r>
              <a:rPr lang="en-US" dirty="0"/>
              <a:t> tag. Because browsers read files from top to bottom, a script can block HTML parsing. We use the </a:t>
            </a:r>
            <a:r>
              <a:rPr lang="en-US" sz="1100" b="0" i="0" u="none" strike="noStrike" cap="none" dirty="0">
                <a:solidFill>
                  <a:srgbClr val="000000"/>
                </a:solidFill>
                <a:latin typeface="Arial"/>
                <a:ea typeface="Arial"/>
                <a:cs typeface="Arial"/>
                <a:sym typeface="Arial"/>
              </a:rPr>
              <a:t>defer</a:t>
            </a:r>
            <a:r>
              <a:rPr lang="en-US" dirty="0"/>
              <a:t> attribute to tell the browser to download the script in parallel but wait until the HTML document is fully parsed before executing it.</a:t>
            </a:r>
          </a:p>
        </p:txBody>
      </p:sp>
    </p:spTree>
    <p:extLst>
      <p:ext uri="{BB962C8B-B14F-4D97-AF65-F5344CB8AC3E}">
        <p14:creationId xmlns:p14="http://schemas.microsoft.com/office/powerpoint/2010/main" val="1092757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Modern JavaScript relies on clean scoping rules. Use </a:t>
            </a:r>
            <a:r>
              <a:rPr lang="en-US" sz="1100" b="0" i="0" u="none" strike="noStrike" cap="none" dirty="0">
                <a:solidFill>
                  <a:srgbClr val="000000"/>
                </a:solidFill>
                <a:latin typeface="Arial"/>
                <a:ea typeface="Arial"/>
                <a:cs typeface="Arial"/>
                <a:sym typeface="Arial"/>
              </a:rPr>
              <a:t>const</a:t>
            </a:r>
            <a:r>
              <a:rPr lang="en-US" dirty="0"/>
              <a:t> by default for variables that will not be reassigned, and </a:t>
            </a:r>
            <a:r>
              <a:rPr lang="en-US" sz="1100" b="0" i="0" u="none" strike="noStrike" cap="none" dirty="0">
                <a:solidFill>
                  <a:srgbClr val="000000"/>
                </a:solidFill>
                <a:latin typeface="Arial"/>
                <a:ea typeface="Arial"/>
                <a:cs typeface="Arial"/>
                <a:sym typeface="Arial"/>
              </a:rPr>
              <a:t>let</a:t>
            </a:r>
            <a:r>
              <a:rPr lang="en-US" dirty="0"/>
              <a:t> for values that change over time. Avoid legacy </a:t>
            </a:r>
            <a:r>
              <a:rPr lang="en-US" sz="1100" b="0" i="0" u="none" strike="noStrike" cap="none" dirty="0">
                <a:solidFill>
                  <a:srgbClr val="000000"/>
                </a:solidFill>
                <a:latin typeface="Arial"/>
                <a:ea typeface="Arial"/>
                <a:cs typeface="Arial"/>
                <a:sym typeface="Arial"/>
              </a:rPr>
              <a:t>var</a:t>
            </a:r>
            <a:r>
              <a:rPr lang="en-US" dirty="0"/>
              <a:t> declarations, which introduce unpredictable variable hosting bugs into your call stack.</a:t>
            </a:r>
          </a:p>
        </p:txBody>
      </p:sp>
    </p:spTree>
    <p:extLst>
      <p:ext uri="{BB962C8B-B14F-4D97-AF65-F5344CB8AC3E}">
        <p14:creationId xmlns:p14="http://schemas.microsoft.com/office/powerpoint/2010/main" val="2500576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Control flow allows our application to make decisions. We use </a:t>
            </a:r>
            <a:r>
              <a:rPr lang="en-US" sz="1100" b="0" i="0" u="none" strike="noStrike" cap="none" dirty="0">
                <a:solidFill>
                  <a:srgbClr val="000000"/>
                </a:solidFill>
                <a:latin typeface="Arial"/>
                <a:ea typeface="Arial"/>
                <a:cs typeface="Arial"/>
                <a:sym typeface="Arial"/>
              </a:rPr>
              <a:t>if</a:t>
            </a:r>
            <a:r>
              <a:rPr lang="en-US" dirty="0"/>
              <a:t> blocks to run code conditionally based on </a:t>
            </a:r>
            <a:r>
              <a:rPr lang="en-US" dirty="0" err="1"/>
              <a:t>boolean</a:t>
            </a:r>
            <a:r>
              <a:rPr lang="en-US" dirty="0"/>
              <a:t> evaluations. To keep our code organized and maintainable, we bundle reusable instructions into functions that accept input parameters and pass processed outputs back using </a:t>
            </a:r>
            <a:r>
              <a:rPr lang="en-US" sz="1100" b="0" i="0" u="none" strike="noStrike" cap="none" dirty="0">
                <a:solidFill>
                  <a:srgbClr val="000000"/>
                </a:solidFill>
                <a:latin typeface="Arial"/>
                <a:ea typeface="Arial"/>
                <a:cs typeface="Arial"/>
                <a:sym typeface="Arial"/>
              </a:rPr>
              <a:t>return</a:t>
            </a:r>
            <a:r>
              <a:rPr lang="en-US" dirty="0"/>
              <a:t> statements.</a:t>
            </a:r>
          </a:p>
        </p:txBody>
      </p:sp>
    </p:spTree>
    <p:extLst>
      <p:ext uri="{BB962C8B-B14F-4D97-AF65-F5344CB8AC3E}">
        <p14:creationId xmlns:p14="http://schemas.microsoft.com/office/powerpoint/2010/main" val="3537357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The DOM is a live tree structure where every single thing on the page—including the text spaces and HTML comments—is a node object. As developers, we parse this tree by navigating relationships: moving from a parent container down to its child elements, or skimming sideways across adjacent sibling nodes.</a:t>
            </a:r>
          </a:p>
        </p:txBody>
      </p:sp>
    </p:spTree>
    <p:extLst>
      <p:ext uri="{BB962C8B-B14F-4D97-AF65-F5344CB8AC3E}">
        <p14:creationId xmlns:p14="http://schemas.microsoft.com/office/powerpoint/2010/main" val="2367989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To change a page element, we first have to find it. The </a:t>
            </a:r>
            <a:r>
              <a:rPr lang="en-US" sz="1100" b="0" i="0" u="none" strike="noStrike" cap="none" dirty="0" err="1">
                <a:solidFill>
                  <a:srgbClr val="000000"/>
                </a:solidFill>
                <a:latin typeface="Arial"/>
                <a:ea typeface="Arial"/>
                <a:cs typeface="Arial"/>
                <a:sym typeface="Arial"/>
              </a:rPr>
              <a:t>querySelector</a:t>
            </a:r>
            <a:r>
              <a:rPr lang="en-US" dirty="0"/>
              <a:t> method takes any standard CSS selector string and returns the very first element match it encounters. If you need to manipulate a whole group of matching elements, </a:t>
            </a:r>
            <a:r>
              <a:rPr lang="en-US" sz="1100" b="0" i="0" u="none" strike="noStrike" cap="none" dirty="0" err="1">
                <a:solidFill>
                  <a:srgbClr val="000000"/>
                </a:solidFill>
                <a:latin typeface="Arial"/>
                <a:ea typeface="Arial"/>
                <a:cs typeface="Arial"/>
                <a:sym typeface="Arial"/>
              </a:rPr>
              <a:t>querySelectorAll</a:t>
            </a:r>
            <a:r>
              <a:rPr lang="en-US" dirty="0"/>
              <a:t> gathers them all into a standard </a:t>
            </a:r>
            <a:r>
              <a:rPr lang="en-US" dirty="0" err="1"/>
              <a:t>NodeList</a:t>
            </a:r>
            <a:r>
              <a:rPr lang="en-US" dirty="0"/>
              <a:t> collection that you can iterate through using an array loop."</a:t>
            </a:r>
          </a:p>
        </p:txBody>
      </p:sp>
    </p:spTree>
    <p:extLst>
      <p:ext uri="{BB962C8B-B14F-4D97-AF65-F5344CB8AC3E}">
        <p14:creationId xmlns:p14="http://schemas.microsoft.com/office/powerpoint/2010/main" val="1462273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Once we have captured an element node, we can modify it directly. Setting </a:t>
            </a:r>
            <a:r>
              <a:rPr lang="en-US" sz="1100" b="0" i="0" u="none" strike="noStrike" cap="none" dirty="0" err="1">
                <a:solidFill>
                  <a:srgbClr val="000000"/>
                </a:solidFill>
                <a:latin typeface="Arial"/>
                <a:ea typeface="Arial"/>
                <a:cs typeface="Arial"/>
                <a:sym typeface="Arial"/>
              </a:rPr>
              <a:t>textContent</a:t>
            </a:r>
            <a:r>
              <a:rPr lang="en-US" dirty="0"/>
              <a:t> swaps out raw text safely. If we want to change CSS values on the fly, we can use the </a:t>
            </a:r>
            <a:r>
              <a:rPr lang="en-US" sz="1100" b="0" i="0" u="none" strike="noStrike" cap="none" dirty="0">
                <a:solidFill>
                  <a:srgbClr val="000000"/>
                </a:solidFill>
                <a:latin typeface="Arial"/>
                <a:ea typeface="Arial"/>
                <a:cs typeface="Arial"/>
                <a:sym typeface="Arial"/>
              </a:rPr>
              <a:t>.style</a:t>
            </a:r>
            <a:r>
              <a:rPr lang="en-US" dirty="0"/>
              <a:t> object or cleanly add and remove class strings using the </a:t>
            </a:r>
            <a:r>
              <a:rPr lang="en-US" sz="1100" b="0" i="0" u="none" strike="noStrike" cap="none" dirty="0">
                <a:solidFill>
                  <a:srgbClr val="000000"/>
                </a:solidFill>
                <a:latin typeface="Arial"/>
                <a:ea typeface="Arial"/>
                <a:cs typeface="Arial"/>
                <a:sym typeface="Arial"/>
              </a:rPr>
              <a:t>.</a:t>
            </a:r>
            <a:r>
              <a:rPr lang="en-US" sz="1100" b="0" i="0" u="none" strike="noStrike" cap="none" dirty="0" err="1">
                <a:solidFill>
                  <a:srgbClr val="000000"/>
                </a:solidFill>
                <a:latin typeface="Arial"/>
                <a:ea typeface="Arial"/>
                <a:cs typeface="Arial"/>
                <a:sym typeface="Arial"/>
              </a:rPr>
              <a:t>classList</a:t>
            </a:r>
            <a:r>
              <a:rPr lang="en-US" dirty="0"/>
              <a:t> primitive API—which is the industry standard approach for controlling layouts dynamically.</a:t>
            </a:r>
          </a:p>
        </p:txBody>
      </p:sp>
    </p:spTree>
    <p:extLst>
      <p:ext uri="{BB962C8B-B14F-4D97-AF65-F5344CB8AC3E}">
        <p14:creationId xmlns:p14="http://schemas.microsoft.com/office/powerpoint/2010/main" val="1728525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dirty="0"/>
              <a:t>To make a page react to user input, we attach event listeners. The </a:t>
            </a:r>
            <a:r>
              <a:rPr lang="en-US" sz="1100" b="0" i="0" u="none" strike="noStrike" cap="none" dirty="0" err="1">
                <a:solidFill>
                  <a:srgbClr val="000000"/>
                </a:solidFill>
                <a:latin typeface="Arial"/>
                <a:ea typeface="Arial"/>
                <a:cs typeface="Arial"/>
                <a:sym typeface="Arial"/>
              </a:rPr>
              <a:t>addEventListener</a:t>
            </a:r>
            <a:r>
              <a:rPr lang="en-US" dirty="0"/>
              <a:t> method takes two primary parameters: the explicit signal string we are listening for—such as 'click' or 'submit'—and the callback function that should run the moment that exact user interaction takes place.</a:t>
            </a:r>
          </a:p>
        </p:txBody>
      </p:sp>
    </p:spTree>
    <p:extLst>
      <p:ext uri="{BB962C8B-B14F-4D97-AF65-F5344CB8AC3E}">
        <p14:creationId xmlns:p14="http://schemas.microsoft.com/office/powerpoint/2010/main" val="8518152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182385" y="0"/>
            <a:ext cx="8661398" cy="5150588"/>
            <a:chOff x="0" y="-7088"/>
            <a:chExt cx="8661398" cy="5150588"/>
          </a:xfrm>
        </p:grpSpPr>
        <p:sp>
          <p:nvSpPr>
            <p:cNvPr id="12" name="Google Shape;12;p2"/>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pic>
        <p:nvPicPr>
          <p:cNvPr id="3" name="Picture 2">
            <a:extLst>
              <a:ext uri="{FF2B5EF4-FFF2-40B4-BE49-F238E27FC236}">
                <a16:creationId xmlns:a16="http://schemas.microsoft.com/office/drawing/2014/main" id="{134F7D0F-FE46-C945-87EB-0FD3D356521A}"/>
              </a:ext>
            </a:extLst>
          </p:cNvPr>
          <p:cNvPicPr>
            <a:picLocks noChangeAspect="1"/>
          </p:cNvPicPr>
          <p:nvPr userDrawn="1"/>
        </p:nvPicPr>
        <p:blipFill>
          <a:blip r:embed="rId2"/>
          <a:stretch>
            <a:fillRect/>
          </a:stretch>
        </p:blipFill>
        <p:spPr>
          <a:xfrm>
            <a:off x="0" y="4243277"/>
            <a:ext cx="914400" cy="9144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88954610"/>
      </p:ext>
    </p:extLst>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61"/>
        <p:cNvGrpSpPr/>
        <p:nvPr/>
      </p:nvGrpSpPr>
      <p:grpSpPr>
        <a:xfrm>
          <a:off x="0" y="0"/>
          <a:ext cx="0" cy="0"/>
          <a:chOff x="0" y="0"/>
          <a:chExt cx="0" cy="0"/>
        </a:xfrm>
      </p:grpSpPr>
      <p:grpSp>
        <p:nvGrpSpPr>
          <p:cNvPr id="62" name="Google Shape;62;p5"/>
          <p:cNvGrpSpPr/>
          <p:nvPr/>
        </p:nvGrpSpPr>
        <p:grpSpPr>
          <a:xfrm>
            <a:off x="-4" y="40"/>
            <a:ext cx="7072430" cy="1327315"/>
            <a:chOff x="-4" y="40"/>
            <a:chExt cx="7072430" cy="1327315"/>
          </a:xfrm>
        </p:grpSpPr>
        <p:sp>
          <p:nvSpPr>
            <p:cNvPr id="63" name="Google Shape;63;p5"/>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64" name="Google Shape;64;p5"/>
            <p:cNvGrpSpPr/>
            <p:nvPr/>
          </p:nvGrpSpPr>
          <p:grpSpPr>
            <a:xfrm rot="10800000" flipH="1">
              <a:off x="3" y="40"/>
              <a:ext cx="6756168" cy="1327315"/>
              <a:chOff x="-2168138" y="330075"/>
              <a:chExt cx="8650663" cy="1699506"/>
            </a:xfrm>
          </p:grpSpPr>
          <p:sp>
            <p:nvSpPr>
              <p:cNvPr id="65" name="Google Shape;65;p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6" name="Google Shape;66;p5"/>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67" name="Google Shape;67;p5"/>
            <p:cNvGrpSpPr/>
            <p:nvPr/>
          </p:nvGrpSpPr>
          <p:grpSpPr>
            <a:xfrm rot="10800000" flipH="1">
              <a:off x="-4" y="381007"/>
              <a:ext cx="7072430" cy="771744"/>
              <a:chOff x="-9092084" y="330075"/>
              <a:chExt cx="15574609" cy="1699501"/>
            </a:xfrm>
          </p:grpSpPr>
          <p:sp>
            <p:nvSpPr>
              <p:cNvPr id="68" name="Google Shape;68;p5"/>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69" name="Google Shape;69;p5"/>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70" name="Google Shape;70;p5"/>
          <p:cNvGrpSpPr/>
          <p:nvPr/>
        </p:nvGrpSpPr>
        <p:grpSpPr>
          <a:xfrm>
            <a:off x="6946842" y="4472723"/>
            <a:ext cx="2202830" cy="670795"/>
            <a:chOff x="5575242" y="4472723"/>
            <a:chExt cx="2202830" cy="670795"/>
          </a:xfrm>
        </p:grpSpPr>
        <p:sp>
          <p:nvSpPr>
            <p:cNvPr id="71" name="Google Shape;71;p5"/>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 name="Google Shape;72;p5"/>
            <p:cNvGrpSpPr/>
            <p:nvPr/>
          </p:nvGrpSpPr>
          <p:grpSpPr>
            <a:xfrm flipH="1">
              <a:off x="5734850" y="4472723"/>
              <a:ext cx="2040837" cy="670795"/>
              <a:chOff x="1297954" y="330075"/>
              <a:chExt cx="5169293" cy="1699506"/>
            </a:xfrm>
          </p:grpSpPr>
          <p:sp>
            <p:nvSpPr>
              <p:cNvPr id="73" name="Google Shape;73;p5"/>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5"/>
            <p:cNvGrpSpPr/>
            <p:nvPr/>
          </p:nvGrpSpPr>
          <p:grpSpPr>
            <a:xfrm flipH="1">
              <a:off x="5578209" y="4646738"/>
              <a:ext cx="2199863" cy="304563"/>
              <a:chOff x="-5827153" y="330075"/>
              <a:chExt cx="12276019" cy="1699569"/>
            </a:xfrm>
          </p:grpSpPr>
          <p:sp>
            <p:nvSpPr>
              <p:cNvPr id="76" name="Google Shape;76;p5"/>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lstStyle>
            <a:lvl1pPr lvl="0">
              <a:spcBef>
                <a:spcPts val="0"/>
              </a:spcBef>
              <a:spcAft>
                <a:spcPts val="0"/>
              </a:spcAft>
              <a:buSzPts val="2000"/>
              <a:buNone/>
              <a:defRPr sz="36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lstStyle>
            <a:lvl1pPr marL="457200" lvl="0" indent="-381000">
              <a:spcBef>
                <a:spcPts val="600"/>
              </a:spcBef>
              <a:spcAft>
                <a:spcPts val="0"/>
              </a:spcAft>
              <a:buSzPts val="2400"/>
              <a:buChar char="▰"/>
              <a:defRPr sz="2800"/>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2" name="Picture 21">
            <a:extLst>
              <a:ext uri="{FF2B5EF4-FFF2-40B4-BE49-F238E27FC236}">
                <a16:creationId xmlns:a16="http://schemas.microsoft.com/office/drawing/2014/main" id="{C8F7DB91-7595-E64B-B07D-A30575B2CB4C}"/>
              </a:ext>
            </a:extLst>
          </p:cNvPr>
          <p:cNvPicPr>
            <a:picLocks noChangeAspect="1"/>
          </p:cNvPicPr>
          <p:nvPr userDrawn="1"/>
        </p:nvPicPr>
        <p:blipFill>
          <a:blip r:embed="rId2"/>
          <a:stretch>
            <a:fillRect/>
          </a:stretch>
        </p:blipFill>
        <p:spPr>
          <a:xfrm>
            <a:off x="0" y="4253392"/>
            <a:ext cx="914400" cy="914400"/>
          </a:xfrm>
          <a:prstGeom prst="rect">
            <a:avLst/>
          </a:prstGeom>
        </p:spPr>
      </p:pic>
    </p:spTree>
    <p:extLst>
      <p:ext uri="{BB962C8B-B14F-4D97-AF65-F5344CB8AC3E}">
        <p14:creationId xmlns:p14="http://schemas.microsoft.com/office/powerpoint/2010/main" val="3086644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tif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lstStyle>
            <a:lvl1pPr lvl="0">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1pPr>
            <a:lvl2pPr lvl="1">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2pPr>
            <a:lvl3pPr lvl="2">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3pPr>
            <a:lvl4pPr lvl="3">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4pPr>
            <a:lvl5pPr lvl="4">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5pPr>
            <a:lvl6pPr lvl="5">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6pPr>
            <a:lvl7pPr lvl="6">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7pPr>
            <a:lvl8pPr lvl="7">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8pPr>
            <a:lvl9pPr lvl="8">
              <a:spcBef>
                <a:spcPts val="0"/>
              </a:spcBef>
              <a:spcAft>
                <a:spcPts val="0"/>
              </a:spcAft>
              <a:buClr>
                <a:srgbClr val="FFFFFF"/>
              </a:buClr>
              <a:buSzPts val="2000"/>
              <a:buFont typeface="Roboto Condensed"/>
              <a:buNone/>
              <a:defRPr sz="2000" b="1">
                <a:solidFill>
                  <a:srgbClr val="FFFFFF"/>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lstStyle>
            <a:lvl1pPr marL="457200" lvl="0" indent="-381000">
              <a:spcBef>
                <a:spcPts val="6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rgbClr val="C7D3E6"/>
              </a:buClr>
              <a:buSzPts val="2400"/>
              <a:buFont typeface="Roboto Condensed Light"/>
              <a:buChar char="▻"/>
              <a:defRPr sz="2400">
                <a:solidFill>
                  <a:srgbClr val="263248"/>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rgbClr val="FFFFFF"/>
                </a:solidFill>
                <a:latin typeface="Roboto Condensed"/>
                <a:ea typeface="Roboto Condensed"/>
                <a:cs typeface="Roboto Condensed"/>
                <a:sym typeface="Roboto Condensed"/>
              </a:defRPr>
            </a:lvl1pPr>
            <a:lvl2pPr lvl="1" algn="r">
              <a:buNone/>
              <a:defRPr sz="1200" b="1">
                <a:solidFill>
                  <a:srgbClr val="FFFFFF"/>
                </a:solidFill>
                <a:latin typeface="Roboto Condensed"/>
                <a:ea typeface="Roboto Condensed"/>
                <a:cs typeface="Roboto Condensed"/>
                <a:sym typeface="Roboto Condensed"/>
              </a:defRPr>
            </a:lvl2pPr>
            <a:lvl3pPr lvl="2" algn="r">
              <a:buNone/>
              <a:defRPr sz="1200" b="1">
                <a:solidFill>
                  <a:srgbClr val="FFFFFF"/>
                </a:solidFill>
                <a:latin typeface="Roboto Condensed"/>
                <a:ea typeface="Roboto Condensed"/>
                <a:cs typeface="Roboto Condensed"/>
                <a:sym typeface="Roboto Condensed"/>
              </a:defRPr>
            </a:lvl3pPr>
            <a:lvl4pPr lvl="3" algn="r">
              <a:buNone/>
              <a:defRPr sz="1200" b="1">
                <a:solidFill>
                  <a:srgbClr val="FFFFFF"/>
                </a:solidFill>
                <a:latin typeface="Roboto Condensed"/>
                <a:ea typeface="Roboto Condensed"/>
                <a:cs typeface="Roboto Condensed"/>
                <a:sym typeface="Roboto Condensed"/>
              </a:defRPr>
            </a:lvl4pPr>
            <a:lvl5pPr lvl="4" algn="r">
              <a:buNone/>
              <a:defRPr sz="1200" b="1">
                <a:solidFill>
                  <a:srgbClr val="FFFFFF"/>
                </a:solidFill>
                <a:latin typeface="Roboto Condensed"/>
                <a:ea typeface="Roboto Condensed"/>
                <a:cs typeface="Roboto Condensed"/>
                <a:sym typeface="Roboto Condensed"/>
              </a:defRPr>
            </a:lvl5pPr>
            <a:lvl6pPr lvl="5" algn="r">
              <a:buNone/>
              <a:defRPr sz="1200" b="1">
                <a:solidFill>
                  <a:srgbClr val="FFFFFF"/>
                </a:solidFill>
                <a:latin typeface="Roboto Condensed"/>
                <a:ea typeface="Roboto Condensed"/>
                <a:cs typeface="Roboto Condensed"/>
                <a:sym typeface="Roboto Condensed"/>
              </a:defRPr>
            </a:lvl6pPr>
            <a:lvl7pPr lvl="6" algn="r">
              <a:buNone/>
              <a:defRPr sz="1200" b="1">
                <a:solidFill>
                  <a:srgbClr val="FFFFFF"/>
                </a:solidFill>
                <a:latin typeface="Roboto Condensed"/>
                <a:ea typeface="Roboto Condensed"/>
                <a:cs typeface="Roboto Condensed"/>
                <a:sym typeface="Roboto Condensed"/>
              </a:defRPr>
            </a:lvl7pPr>
            <a:lvl8pPr lvl="7" algn="r">
              <a:buNone/>
              <a:defRPr sz="1200" b="1">
                <a:solidFill>
                  <a:srgbClr val="FFFFFF"/>
                </a:solidFill>
                <a:latin typeface="Roboto Condensed"/>
                <a:ea typeface="Roboto Condensed"/>
                <a:cs typeface="Roboto Condensed"/>
                <a:sym typeface="Roboto Condensed"/>
              </a:defRPr>
            </a:lvl8pPr>
            <a:lvl9pPr lvl="8" algn="r">
              <a:buNone/>
              <a:defRPr sz="1200" b="1">
                <a:solidFill>
                  <a:srgbClr val="FFFFFF"/>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pic>
        <p:nvPicPr>
          <p:cNvPr id="5" name="Picture 4">
            <a:extLst>
              <a:ext uri="{FF2B5EF4-FFF2-40B4-BE49-F238E27FC236}">
                <a16:creationId xmlns:a16="http://schemas.microsoft.com/office/drawing/2014/main" id="{B9B48145-9848-2F4E-A51E-1AF5F3EC5EAD}"/>
              </a:ext>
            </a:extLst>
          </p:cNvPr>
          <p:cNvPicPr>
            <a:picLocks noChangeAspect="1"/>
          </p:cNvPicPr>
          <p:nvPr userDrawn="1"/>
        </p:nvPicPr>
        <p:blipFill>
          <a:blip r:embed="rId5"/>
          <a:stretch>
            <a:fillRect/>
          </a:stretch>
        </p:blipFill>
        <p:spPr>
          <a:xfrm>
            <a:off x="0" y="4243277"/>
            <a:ext cx="914400" cy="91440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58" r:id="rId2"/>
    <p:sldLayoutId id="2147483659" r:id="rId3"/>
  </p:sldLayoutIdLst>
  <p:transition>
    <p:fade thruBlk="1"/>
  </p:transition>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155576" y="1177119"/>
            <a:ext cx="7193492" cy="1443251"/>
          </a:xfrm>
          <a:prstGeom prst="rect">
            <a:avLst/>
          </a:prstGeom>
        </p:spPr>
        <p:txBody>
          <a:bodyPr spcFirstLastPara="1" wrap="square" lIns="91425" tIns="91425" rIns="91425" bIns="91425" anchor="ctr" anchorCtr="0">
            <a:noAutofit/>
          </a:bodyPr>
          <a:lstStyle/>
          <a:p>
            <a:r>
              <a:rPr lang="en-US" sz="3600"/>
              <a:t>IS 312 Web Design and Programing</a:t>
            </a:r>
          </a:p>
        </p:txBody>
      </p:sp>
      <p:sp>
        <p:nvSpPr>
          <p:cNvPr id="4" name="AutoShape 8" descr="Image result for city university of seattle logo we are all about the finis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40" name="Picture 16" descr="Image result for city university of seattl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 y="4241800"/>
            <a:ext cx="901700" cy="901700"/>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214;p13"/>
          <p:cNvSpPr txBox="1">
            <a:spLocks/>
          </p:cNvSpPr>
          <p:nvPr/>
        </p:nvSpPr>
        <p:spPr>
          <a:xfrm>
            <a:off x="12422" y="2406435"/>
            <a:ext cx="6404993" cy="153625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rgbClr val="C7D3E6"/>
              </a:buClr>
              <a:buSzPts val="2400"/>
              <a:buFont typeface="Roboto Condensed Light"/>
              <a:buChar char="▻"/>
              <a:defRPr sz="2400" b="0" i="0" u="none" strike="noStrike" cap="none">
                <a:solidFill>
                  <a:srgbClr val="263248"/>
                </a:solidFill>
                <a:latin typeface="Roboto Condensed Light"/>
                <a:ea typeface="Roboto Condensed Light"/>
                <a:cs typeface="Roboto Condensed Light"/>
                <a:sym typeface="Roboto Condensed Light"/>
              </a:defRPr>
            </a:lvl9pPr>
          </a:lstStyle>
          <a:p>
            <a:pPr marL="76200" indent="0" algn="ctr">
              <a:buNone/>
            </a:pPr>
            <a:r>
              <a:rPr lang="en-US" sz="1500" b="1" dirty="0">
                <a:solidFill>
                  <a:schemeClr val="bg1"/>
                </a:solidFill>
              </a:rPr>
              <a:t>JS, DOM, and Events</a:t>
            </a:r>
          </a:p>
          <a:p>
            <a:pPr marL="76200" indent="0" algn="ctr">
              <a:buNone/>
            </a:pPr>
            <a:r>
              <a:rPr lang="en-US" sz="1500" dirty="0">
                <a:solidFill>
                  <a:schemeClr val="bg1"/>
                </a:solidFill>
              </a:rPr>
              <a:t>Module 03 – Introduction Coding Env, HTML and CSS</a:t>
            </a:r>
          </a:p>
          <a:p>
            <a:pPr marL="76200" indent="0" algn="ctr">
              <a:buNone/>
            </a:pPr>
            <a:r>
              <a:rPr lang="en-US" sz="1500" dirty="0">
                <a:solidFill>
                  <a:schemeClr val="bg1"/>
                </a:solidFill>
              </a:rPr>
              <a:t>School of Technology &amp; Computing (STC)</a:t>
            </a:r>
            <a:endParaRPr lang="en-US" dirty="0">
              <a:solidFill>
                <a:schemeClr val="bg1"/>
              </a:solidFill>
            </a:endParaRPr>
          </a:p>
          <a:p>
            <a:pPr marL="76200" indent="0" algn="ctr">
              <a:buNone/>
            </a:pPr>
            <a:r>
              <a:rPr lang="en-US" sz="1200" dirty="0">
                <a:solidFill>
                  <a:srgbClr val="000000"/>
                </a:solidFill>
                <a:highlight>
                  <a:srgbClr val="FFFFFF"/>
                </a:highlight>
                <a:latin typeface="Calibri"/>
                <a:ea typeface="Calibri"/>
                <a:cs typeface="Calibri"/>
              </a:rPr>
              <a:t>City University of Seattle (</a:t>
            </a:r>
            <a:r>
              <a:rPr lang="en-US" sz="1200" dirty="0" err="1">
                <a:solidFill>
                  <a:srgbClr val="000000"/>
                </a:solidFill>
                <a:highlight>
                  <a:srgbClr val="FFFFFF"/>
                </a:highlight>
                <a:latin typeface="Calibri"/>
                <a:ea typeface="Calibri"/>
                <a:cs typeface="Calibri"/>
              </a:rPr>
              <a:t>CityU</a:t>
            </a:r>
            <a:r>
              <a:rPr lang="en-US" sz="1200" dirty="0">
                <a:solidFill>
                  <a:srgbClr val="000000"/>
                </a:solidFill>
                <a:highlight>
                  <a:srgbClr val="FFFFFF"/>
                </a:highlight>
                <a:latin typeface="Calibri"/>
                <a:ea typeface="Calibri"/>
                <a:cs typeface="Calibri"/>
              </a:rPr>
              <a:t>)</a:t>
            </a:r>
            <a:endParaRPr lang="en-US" sz="1200" dirty="0">
              <a:solidFill>
                <a:srgbClr val="000000"/>
              </a:solidFill>
              <a:highlight>
                <a:srgbClr val="C6C6C6"/>
              </a:highlight>
              <a:latin typeface="Calibri"/>
              <a:ea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Welcome to Programmable Web Architectures</a:t>
            </a:r>
          </a:p>
        </p:txBody>
      </p:sp>
      <p:sp>
        <p:nvSpPr>
          <p:cNvPr id="3" name="Text Placeholder 2"/>
          <p:cNvSpPr>
            <a:spLocks noGrp="1"/>
          </p:cNvSpPr>
          <p:nvPr>
            <p:ph type="body" idx="1"/>
          </p:nvPr>
        </p:nvSpPr>
        <p:spPr/>
        <p:txBody>
          <a:bodyPr/>
          <a:lstStyle/>
          <a:p>
            <a:r>
              <a:rPr lang="en-US" dirty="0"/>
              <a:t>Moving Beyond Static Structural Markup</a:t>
            </a:r>
          </a:p>
          <a:p>
            <a:r>
              <a:rPr lang="en-US" dirty="0"/>
              <a:t>Introduction to Client-Side Logic Execution</a:t>
            </a:r>
          </a:p>
          <a:p>
            <a:r>
              <a:rPr lang="en-US" dirty="0"/>
              <a:t>JS Role as the Engine of the View</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3443371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4C06F-A411-5054-105E-5A8B86C86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98D7C-C562-F7D2-1F62-D1EFEE050F00}"/>
              </a:ext>
            </a:extLst>
          </p:cNvPr>
          <p:cNvSpPr>
            <a:spLocks noGrp="1"/>
          </p:cNvSpPr>
          <p:nvPr>
            <p:ph type="title"/>
          </p:nvPr>
        </p:nvSpPr>
        <p:spPr/>
        <p:txBody>
          <a:bodyPr/>
          <a:lstStyle/>
          <a:p>
            <a:r>
              <a:rPr lang="en-US" dirty="0"/>
              <a:t>Getting Started with Client-Side Scripts</a:t>
            </a:r>
          </a:p>
        </p:txBody>
      </p:sp>
      <p:sp>
        <p:nvSpPr>
          <p:cNvPr id="3" name="Text Placeholder 2">
            <a:extLst>
              <a:ext uri="{FF2B5EF4-FFF2-40B4-BE49-F238E27FC236}">
                <a16:creationId xmlns:a16="http://schemas.microsoft.com/office/drawing/2014/main" id="{432F9F81-3DB0-9625-18C8-0E3F2230AC32}"/>
              </a:ext>
            </a:extLst>
          </p:cNvPr>
          <p:cNvSpPr>
            <a:spLocks noGrp="1"/>
          </p:cNvSpPr>
          <p:nvPr>
            <p:ph type="body" idx="1"/>
          </p:nvPr>
        </p:nvSpPr>
        <p:spPr/>
        <p:txBody>
          <a:bodyPr/>
          <a:lstStyle/>
          <a:p>
            <a:r>
              <a:rPr lang="en-US" dirty="0"/>
              <a:t>Script Placement Pipelines ( &lt;script&gt;)</a:t>
            </a:r>
          </a:p>
          <a:p>
            <a:r>
              <a:rPr lang="en-US" dirty="0"/>
              <a:t>The Architecture of Non-Blocking Loading (defer vs async)</a:t>
            </a:r>
          </a:p>
          <a:p>
            <a:r>
              <a:rPr lang="en-US" dirty="0"/>
              <a:t>The Console Env as an Engineering Workspace</a:t>
            </a:r>
          </a:p>
        </p:txBody>
      </p:sp>
      <p:sp>
        <p:nvSpPr>
          <p:cNvPr id="4" name="Slide Number Placeholder 3">
            <a:extLst>
              <a:ext uri="{FF2B5EF4-FFF2-40B4-BE49-F238E27FC236}">
                <a16:creationId xmlns:a16="http://schemas.microsoft.com/office/drawing/2014/main" id="{31E75699-EAA7-C5A6-422A-252B08DBEF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2976490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B5FE0-766A-9EA4-0DE5-2B22530C3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8EBC8-471F-146D-7E1E-5D4564A2B47B}"/>
              </a:ext>
            </a:extLst>
          </p:cNvPr>
          <p:cNvSpPr>
            <a:spLocks noGrp="1"/>
          </p:cNvSpPr>
          <p:nvPr>
            <p:ph type="title"/>
          </p:nvPr>
        </p:nvSpPr>
        <p:spPr>
          <a:xfrm>
            <a:off x="280416" y="392575"/>
            <a:ext cx="6026259" cy="766200"/>
          </a:xfrm>
        </p:spPr>
        <p:txBody>
          <a:bodyPr/>
          <a:lstStyle/>
          <a:p>
            <a:r>
              <a:rPr lang="en-US" dirty="0"/>
              <a:t>Essential Language Primitives</a:t>
            </a:r>
          </a:p>
        </p:txBody>
      </p:sp>
      <p:sp>
        <p:nvSpPr>
          <p:cNvPr id="3" name="Text Placeholder 2">
            <a:extLst>
              <a:ext uri="{FF2B5EF4-FFF2-40B4-BE49-F238E27FC236}">
                <a16:creationId xmlns:a16="http://schemas.microsoft.com/office/drawing/2014/main" id="{42070C61-8127-31D1-632A-92D48E0325F7}"/>
              </a:ext>
            </a:extLst>
          </p:cNvPr>
          <p:cNvSpPr>
            <a:spLocks noGrp="1"/>
          </p:cNvSpPr>
          <p:nvPr>
            <p:ph type="body" idx="1"/>
          </p:nvPr>
        </p:nvSpPr>
        <p:spPr/>
        <p:txBody>
          <a:bodyPr/>
          <a:lstStyle/>
          <a:p>
            <a:r>
              <a:rPr lang="en-US" dirty="0"/>
              <a:t>Scoping Variables Cleanly ( let, var, const)</a:t>
            </a:r>
          </a:p>
          <a:p>
            <a:r>
              <a:rPr lang="en-US" dirty="0"/>
              <a:t>Primitive Types: String, Numbers, Booleans</a:t>
            </a:r>
          </a:p>
          <a:p>
            <a:r>
              <a:rPr lang="en-US" dirty="0"/>
              <a:t>Complex Collections: Object literals and Data Arrays</a:t>
            </a:r>
          </a:p>
        </p:txBody>
      </p:sp>
      <p:sp>
        <p:nvSpPr>
          <p:cNvPr id="4" name="Slide Number Placeholder 3">
            <a:extLst>
              <a:ext uri="{FF2B5EF4-FFF2-40B4-BE49-F238E27FC236}">
                <a16:creationId xmlns:a16="http://schemas.microsoft.com/office/drawing/2014/main" id="{01FC682C-097B-5345-DFA4-1B40A2D0D4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2502353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13FF8-DE36-B3C1-2169-C75F9B231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2CA93-D6D5-0ACA-8837-5595E97E5B8E}"/>
              </a:ext>
            </a:extLst>
          </p:cNvPr>
          <p:cNvSpPr>
            <a:spLocks noGrp="1"/>
          </p:cNvSpPr>
          <p:nvPr>
            <p:ph type="title"/>
          </p:nvPr>
        </p:nvSpPr>
        <p:spPr/>
        <p:txBody>
          <a:bodyPr/>
          <a:lstStyle/>
          <a:p>
            <a:r>
              <a:rPr lang="en-US" dirty="0"/>
              <a:t>Control Flow: Conditional and Functional Execution</a:t>
            </a:r>
          </a:p>
        </p:txBody>
      </p:sp>
      <p:sp>
        <p:nvSpPr>
          <p:cNvPr id="3" name="Text Placeholder 2">
            <a:extLst>
              <a:ext uri="{FF2B5EF4-FFF2-40B4-BE49-F238E27FC236}">
                <a16:creationId xmlns:a16="http://schemas.microsoft.com/office/drawing/2014/main" id="{18393060-659C-AA45-E356-3F134E845F12}"/>
              </a:ext>
            </a:extLst>
          </p:cNvPr>
          <p:cNvSpPr>
            <a:spLocks noGrp="1"/>
          </p:cNvSpPr>
          <p:nvPr>
            <p:ph type="body" idx="1"/>
          </p:nvPr>
        </p:nvSpPr>
        <p:spPr/>
        <p:txBody>
          <a:bodyPr/>
          <a:lstStyle/>
          <a:p>
            <a:r>
              <a:rPr lang="en-US" dirty="0"/>
              <a:t>Decision Branches via if … else Patterns</a:t>
            </a:r>
          </a:p>
          <a:p>
            <a:r>
              <a:rPr lang="en-US" dirty="0"/>
              <a:t>Encapsulation Code via Functions</a:t>
            </a:r>
          </a:p>
          <a:p>
            <a:r>
              <a:rPr lang="en-US" dirty="0"/>
              <a:t>Parameter Inputs and Explicit return Values</a:t>
            </a:r>
          </a:p>
        </p:txBody>
      </p:sp>
      <p:sp>
        <p:nvSpPr>
          <p:cNvPr id="4" name="Slide Number Placeholder 3">
            <a:extLst>
              <a:ext uri="{FF2B5EF4-FFF2-40B4-BE49-F238E27FC236}">
                <a16:creationId xmlns:a16="http://schemas.microsoft.com/office/drawing/2014/main" id="{0A8872D2-CCC4-DA83-344D-E0B523A383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1109964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9925A-2CBB-E46C-D039-CB19B5D3B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E9461-1897-DB7F-D359-D490603FD041}"/>
              </a:ext>
            </a:extLst>
          </p:cNvPr>
          <p:cNvSpPr>
            <a:spLocks noGrp="1"/>
          </p:cNvSpPr>
          <p:nvPr>
            <p:ph type="title"/>
          </p:nvPr>
        </p:nvSpPr>
        <p:spPr/>
        <p:txBody>
          <a:bodyPr/>
          <a:lstStyle/>
          <a:p>
            <a:r>
              <a:rPr lang="en-US" dirty="0"/>
              <a:t>Code </a:t>
            </a:r>
            <a:r>
              <a:rPr lang="en-US" dirty="0" err="1"/>
              <a:t>Expample</a:t>
            </a:r>
            <a:r>
              <a:rPr lang="en-US" dirty="0"/>
              <a:t> </a:t>
            </a:r>
          </a:p>
        </p:txBody>
      </p:sp>
      <p:sp>
        <p:nvSpPr>
          <p:cNvPr id="4" name="Slide Number Placeholder 3">
            <a:extLst>
              <a:ext uri="{FF2B5EF4-FFF2-40B4-BE49-F238E27FC236}">
                <a16:creationId xmlns:a16="http://schemas.microsoft.com/office/drawing/2014/main" id="{0255D100-485F-C498-2F58-3E547C3613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pic>
        <p:nvPicPr>
          <p:cNvPr id="6" name="Picture 5">
            <a:extLst>
              <a:ext uri="{FF2B5EF4-FFF2-40B4-BE49-F238E27FC236}">
                <a16:creationId xmlns:a16="http://schemas.microsoft.com/office/drawing/2014/main" id="{21908267-5F0D-C7AD-81F4-CA854C87CD9E}"/>
              </a:ext>
            </a:extLst>
          </p:cNvPr>
          <p:cNvPicPr>
            <a:picLocks noChangeAspect="1"/>
          </p:cNvPicPr>
          <p:nvPr/>
        </p:nvPicPr>
        <p:blipFill>
          <a:blip r:embed="rId2"/>
          <a:stretch>
            <a:fillRect/>
          </a:stretch>
        </p:blipFill>
        <p:spPr>
          <a:xfrm>
            <a:off x="38600" y="1178551"/>
            <a:ext cx="4010585" cy="3572374"/>
          </a:xfrm>
          <a:prstGeom prst="rect">
            <a:avLst/>
          </a:prstGeom>
        </p:spPr>
      </p:pic>
      <p:pic>
        <p:nvPicPr>
          <p:cNvPr id="8" name="Picture 7">
            <a:extLst>
              <a:ext uri="{FF2B5EF4-FFF2-40B4-BE49-F238E27FC236}">
                <a16:creationId xmlns:a16="http://schemas.microsoft.com/office/drawing/2014/main" id="{3311634B-93B5-AA7A-3C6B-504A88700C19}"/>
              </a:ext>
            </a:extLst>
          </p:cNvPr>
          <p:cNvPicPr>
            <a:picLocks noChangeAspect="1"/>
          </p:cNvPicPr>
          <p:nvPr/>
        </p:nvPicPr>
        <p:blipFill>
          <a:blip r:embed="rId3"/>
          <a:stretch>
            <a:fillRect/>
          </a:stretch>
        </p:blipFill>
        <p:spPr>
          <a:xfrm>
            <a:off x="4217100" y="1178551"/>
            <a:ext cx="3400900" cy="1457528"/>
          </a:xfrm>
          <a:prstGeom prst="rect">
            <a:avLst/>
          </a:prstGeom>
        </p:spPr>
      </p:pic>
      <p:pic>
        <p:nvPicPr>
          <p:cNvPr id="10" name="Picture 9">
            <a:extLst>
              <a:ext uri="{FF2B5EF4-FFF2-40B4-BE49-F238E27FC236}">
                <a16:creationId xmlns:a16="http://schemas.microsoft.com/office/drawing/2014/main" id="{85D17D60-3E41-6F9D-4EDD-16EC18D60414}"/>
              </a:ext>
            </a:extLst>
          </p:cNvPr>
          <p:cNvPicPr>
            <a:picLocks noChangeAspect="1"/>
          </p:cNvPicPr>
          <p:nvPr/>
        </p:nvPicPr>
        <p:blipFill>
          <a:blip r:embed="rId4"/>
          <a:stretch>
            <a:fillRect/>
          </a:stretch>
        </p:blipFill>
        <p:spPr>
          <a:xfrm>
            <a:off x="4178995" y="2902762"/>
            <a:ext cx="3439005" cy="1467055"/>
          </a:xfrm>
          <a:prstGeom prst="rect">
            <a:avLst/>
          </a:prstGeom>
        </p:spPr>
      </p:pic>
    </p:spTree>
    <p:extLst>
      <p:ext uri="{BB962C8B-B14F-4D97-AF65-F5344CB8AC3E}">
        <p14:creationId xmlns:p14="http://schemas.microsoft.com/office/powerpoint/2010/main" val="4289477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77E3D-B0A4-9708-0B4A-E81EAFF35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12117-EFF8-333A-4E25-9A90344427AB}"/>
              </a:ext>
            </a:extLst>
          </p:cNvPr>
          <p:cNvSpPr>
            <a:spLocks noGrp="1"/>
          </p:cNvSpPr>
          <p:nvPr>
            <p:ph type="title"/>
          </p:nvPr>
        </p:nvSpPr>
        <p:spPr/>
        <p:txBody>
          <a:bodyPr/>
          <a:lstStyle/>
          <a:p>
            <a:r>
              <a:rPr lang="en-US" dirty="0"/>
              <a:t>Advanced Iteration and Arrow Functions</a:t>
            </a:r>
          </a:p>
        </p:txBody>
      </p:sp>
      <p:sp>
        <p:nvSpPr>
          <p:cNvPr id="3" name="Text Placeholder 2">
            <a:extLst>
              <a:ext uri="{FF2B5EF4-FFF2-40B4-BE49-F238E27FC236}">
                <a16:creationId xmlns:a16="http://schemas.microsoft.com/office/drawing/2014/main" id="{178F308B-8ADE-FD50-643B-3FD2C5B49E71}"/>
              </a:ext>
            </a:extLst>
          </p:cNvPr>
          <p:cNvSpPr>
            <a:spLocks noGrp="1"/>
          </p:cNvSpPr>
          <p:nvPr>
            <p:ph type="body" idx="1"/>
          </p:nvPr>
        </p:nvSpPr>
        <p:spPr/>
        <p:txBody>
          <a:bodyPr/>
          <a:lstStyle/>
          <a:p>
            <a:r>
              <a:rPr lang="en-US" dirty="0"/>
              <a:t>Concise Expression Handling with Arrow Syntax (=&gt;)</a:t>
            </a:r>
          </a:p>
          <a:p>
            <a:r>
              <a:rPr lang="en-US" dirty="0"/>
              <a:t>Iterating Arrays cleanly via .</a:t>
            </a:r>
            <a:r>
              <a:rPr lang="en-US" dirty="0" err="1"/>
              <a:t>forEach</a:t>
            </a:r>
            <a:r>
              <a:rPr lang="en-US" dirty="0"/>
              <a:t>() and .map()</a:t>
            </a:r>
          </a:p>
          <a:p>
            <a:r>
              <a:rPr lang="en-US" dirty="0"/>
              <a:t>Preparing Pipelines for Component Architectures</a:t>
            </a:r>
          </a:p>
        </p:txBody>
      </p:sp>
      <p:sp>
        <p:nvSpPr>
          <p:cNvPr id="4" name="Slide Number Placeholder 3">
            <a:extLst>
              <a:ext uri="{FF2B5EF4-FFF2-40B4-BE49-F238E27FC236}">
                <a16:creationId xmlns:a16="http://schemas.microsoft.com/office/drawing/2014/main" id="{7B4CA4C0-FE75-4013-FD8A-5CC79A37F7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1541420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95AEB-41D1-E8EF-2E17-1795493E5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152BB-80F0-BDB9-C24B-636B67AEBBCC}"/>
              </a:ext>
            </a:extLst>
          </p:cNvPr>
          <p:cNvSpPr>
            <a:spLocks noGrp="1"/>
          </p:cNvSpPr>
          <p:nvPr>
            <p:ph type="title"/>
          </p:nvPr>
        </p:nvSpPr>
        <p:spPr/>
        <p:txBody>
          <a:bodyPr/>
          <a:lstStyle/>
          <a:p>
            <a:r>
              <a:rPr lang="en-US" dirty="0"/>
              <a:t>Code Examples Arrow Functions</a:t>
            </a:r>
          </a:p>
        </p:txBody>
      </p:sp>
      <p:sp>
        <p:nvSpPr>
          <p:cNvPr id="4" name="Slide Number Placeholder 3">
            <a:extLst>
              <a:ext uri="{FF2B5EF4-FFF2-40B4-BE49-F238E27FC236}">
                <a16:creationId xmlns:a16="http://schemas.microsoft.com/office/drawing/2014/main" id="{2A5043CF-A867-7F5B-51CE-FA5CAA273B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pic>
        <p:nvPicPr>
          <p:cNvPr id="10" name="Picture 9">
            <a:extLst>
              <a:ext uri="{FF2B5EF4-FFF2-40B4-BE49-F238E27FC236}">
                <a16:creationId xmlns:a16="http://schemas.microsoft.com/office/drawing/2014/main" id="{46298538-E560-FB22-017F-8BB8366AD679}"/>
              </a:ext>
            </a:extLst>
          </p:cNvPr>
          <p:cNvPicPr>
            <a:picLocks noChangeAspect="1"/>
          </p:cNvPicPr>
          <p:nvPr/>
        </p:nvPicPr>
        <p:blipFill>
          <a:blip r:embed="rId2"/>
          <a:stretch>
            <a:fillRect/>
          </a:stretch>
        </p:blipFill>
        <p:spPr>
          <a:xfrm>
            <a:off x="172880" y="1403197"/>
            <a:ext cx="4067743" cy="362001"/>
          </a:xfrm>
          <a:prstGeom prst="rect">
            <a:avLst/>
          </a:prstGeom>
        </p:spPr>
      </p:pic>
      <p:pic>
        <p:nvPicPr>
          <p:cNvPr id="12" name="Picture 11">
            <a:extLst>
              <a:ext uri="{FF2B5EF4-FFF2-40B4-BE49-F238E27FC236}">
                <a16:creationId xmlns:a16="http://schemas.microsoft.com/office/drawing/2014/main" id="{65FD5F68-03A0-BF64-286C-C4910B18E0A2}"/>
              </a:ext>
            </a:extLst>
          </p:cNvPr>
          <p:cNvPicPr>
            <a:picLocks noChangeAspect="1"/>
          </p:cNvPicPr>
          <p:nvPr/>
        </p:nvPicPr>
        <p:blipFill>
          <a:blip r:embed="rId3"/>
          <a:stretch>
            <a:fillRect/>
          </a:stretch>
        </p:blipFill>
        <p:spPr>
          <a:xfrm>
            <a:off x="4572000" y="1374618"/>
            <a:ext cx="2781688" cy="390580"/>
          </a:xfrm>
          <a:prstGeom prst="rect">
            <a:avLst/>
          </a:prstGeom>
        </p:spPr>
      </p:pic>
      <p:pic>
        <p:nvPicPr>
          <p:cNvPr id="14" name="Picture 13">
            <a:extLst>
              <a:ext uri="{FF2B5EF4-FFF2-40B4-BE49-F238E27FC236}">
                <a16:creationId xmlns:a16="http://schemas.microsoft.com/office/drawing/2014/main" id="{4FCC4D18-A34D-B1BB-8526-4855DE80789C}"/>
              </a:ext>
            </a:extLst>
          </p:cNvPr>
          <p:cNvPicPr>
            <a:picLocks noChangeAspect="1"/>
          </p:cNvPicPr>
          <p:nvPr/>
        </p:nvPicPr>
        <p:blipFill>
          <a:blip r:embed="rId4"/>
          <a:stretch>
            <a:fillRect/>
          </a:stretch>
        </p:blipFill>
        <p:spPr>
          <a:xfrm>
            <a:off x="220512" y="2009620"/>
            <a:ext cx="4020111" cy="257211"/>
          </a:xfrm>
          <a:prstGeom prst="rect">
            <a:avLst/>
          </a:prstGeom>
        </p:spPr>
      </p:pic>
      <p:pic>
        <p:nvPicPr>
          <p:cNvPr id="16" name="Picture 15">
            <a:extLst>
              <a:ext uri="{FF2B5EF4-FFF2-40B4-BE49-F238E27FC236}">
                <a16:creationId xmlns:a16="http://schemas.microsoft.com/office/drawing/2014/main" id="{62440943-71C3-320A-6275-769287365BFD}"/>
              </a:ext>
            </a:extLst>
          </p:cNvPr>
          <p:cNvPicPr>
            <a:picLocks noChangeAspect="1"/>
          </p:cNvPicPr>
          <p:nvPr/>
        </p:nvPicPr>
        <p:blipFill>
          <a:blip r:embed="rId5"/>
          <a:stretch>
            <a:fillRect/>
          </a:stretch>
        </p:blipFill>
        <p:spPr>
          <a:xfrm>
            <a:off x="4572000" y="1912065"/>
            <a:ext cx="2991267" cy="390580"/>
          </a:xfrm>
          <a:prstGeom prst="rect">
            <a:avLst/>
          </a:prstGeom>
        </p:spPr>
      </p:pic>
      <p:pic>
        <p:nvPicPr>
          <p:cNvPr id="18" name="Picture 17">
            <a:extLst>
              <a:ext uri="{FF2B5EF4-FFF2-40B4-BE49-F238E27FC236}">
                <a16:creationId xmlns:a16="http://schemas.microsoft.com/office/drawing/2014/main" id="{06E9F475-BBB8-E1E4-65E8-3283FAE9DAF4}"/>
              </a:ext>
            </a:extLst>
          </p:cNvPr>
          <p:cNvPicPr>
            <a:picLocks noChangeAspect="1"/>
          </p:cNvPicPr>
          <p:nvPr/>
        </p:nvPicPr>
        <p:blipFill>
          <a:blip r:embed="rId6"/>
          <a:stretch>
            <a:fillRect/>
          </a:stretch>
        </p:blipFill>
        <p:spPr>
          <a:xfrm>
            <a:off x="2095154" y="2840856"/>
            <a:ext cx="3972479" cy="1790950"/>
          </a:xfrm>
          <a:prstGeom prst="rect">
            <a:avLst/>
          </a:prstGeom>
        </p:spPr>
      </p:pic>
    </p:spTree>
    <p:extLst>
      <p:ext uri="{BB962C8B-B14F-4D97-AF65-F5344CB8AC3E}">
        <p14:creationId xmlns:p14="http://schemas.microsoft.com/office/powerpoint/2010/main" val="270382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96A52-8D34-BDB2-95A4-BBEAD9E55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79E785-B0EF-0C6A-C9A8-772550346894}"/>
              </a:ext>
            </a:extLst>
          </p:cNvPr>
          <p:cNvSpPr>
            <a:spLocks noGrp="1"/>
          </p:cNvSpPr>
          <p:nvPr>
            <p:ph type="title"/>
          </p:nvPr>
        </p:nvSpPr>
        <p:spPr>
          <a:xfrm>
            <a:off x="174074" y="392575"/>
            <a:ext cx="7443925" cy="766200"/>
          </a:xfrm>
        </p:spPr>
        <p:txBody>
          <a:bodyPr/>
          <a:lstStyle/>
          <a:p>
            <a:r>
              <a:rPr lang="en-US" dirty="0"/>
              <a:t>The Document Object Model DOM</a:t>
            </a:r>
          </a:p>
        </p:txBody>
      </p:sp>
      <p:sp>
        <p:nvSpPr>
          <p:cNvPr id="3" name="Text Placeholder 2">
            <a:extLst>
              <a:ext uri="{FF2B5EF4-FFF2-40B4-BE49-F238E27FC236}">
                <a16:creationId xmlns:a16="http://schemas.microsoft.com/office/drawing/2014/main" id="{FC34DE95-D052-417C-2F94-379E50F7F785}"/>
              </a:ext>
            </a:extLst>
          </p:cNvPr>
          <p:cNvSpPr>
            <a:spLocks noGrp="1"/>
          </p:cNvSpPr>
          <p:nvPr>
            <p:ph type="body" idx="1"/>
          </p:nvPr>
        </p:nvSpPr>
        <p:spPr/>
        <p:txBody>
          <a:bodyPr/>
          <a:lstStyle/>
          <a:p>
            <a:r>
              <a:rPr lang="en-US" dirty="0"/>
              <a:t>Core Document Node Root</a:t>
            </a:r>
          </a:p>
          <a:p>
            <a:r>
              <a:rPr lang="en-US" dirty="0"/>
              <a:t>Mapping Parent, Child, Sibling Node Relationships</a:t>
            </a:r>
          </a:p>
          <a:p>
            <a:r>
              <a:rPr lang="en-US" dirty="0"/>
              <a:t>The Difference Between an Element Node and a Text Node. </a:t>
            </a:r>
          </a:p>
        </p:txBody>
      </p:sp>
      <p:sp>
        <p:nvSpPr>
          <p:cNvPr id="4" name="Slide Number Placeholder 3">
            <a:extLst>
              <a:ext uri="{FF2B5EF4-FFF2-40B4-BE49-F238E27FC236}">
                <a16:creationId xmlns:a16="http://schemas.microsoft.com/office/drawing/2014/main" id="{D7AD491C-1EAB-5234-1646-411ED1A4FA0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2515390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D73C8-61FC-653D-5135-78CC1C211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0D1AA-7CB0-8995-FAF2-E615FFA10D70}"/>
              </a:ext>
            </a:extLst>
          </p:cNvPr>
          <p:cNvSpPr>
            <a:spLocks noGrp="1"/>
          </p:cNvSpPr>
          <p:nvPr>
            <p:ph type="title"/>
          </p:nvPr>
        </p:nvSpPr>
        <p:spPr/>
        <p:txBody>
          <a:bodyPr/>
          <a:lstStyle/>
          <a:p>
            <a:r>
              <a:rPr lang="en-US" dirty="0"/>
              <a:t>Querying and Query Selections (DOM)</a:t>
            </a:r>
          </a:p>
        </p:txBody>
      </p:sp>
      <p:sp>
        <p:nvSpPr>
          <p:cNvPr id="3" name="Text Placeholder 2">
            <a:extLst>
              <a:ext uri="{FF2B5EF4-FFF2-40B4-BE49-F238E27FC236}">
                <a16:creationId xmlns:a16="http://schemas.microsoft.com/office/drawing/2014/main" id="{9DFCEF9B-853C-6FC8-F8FB-E18C26E9DE4D}"/>
              </a:ext>
            </a:extLst>
          </p:cNvPr>
          <p:cNvSpPr>
            <a:spLocks noGrp="1"/>
          </p:cNvSpPr>
          <p:nvPr>
            <p:ph type="body" idx="1"/>
          </p:nvPr>
        </p:nvSpPr>
        <p:spPr/>
        <p:txBody>
          <a:bodyPr/>
          <a:lstStyle/>
          <a:p>
            <a:r>
              <a:rPr lang="en-US" dirty="0"/>
              <a:t> Targeted Selection via</a:t>
            </a:r>
          </a:p>
          <a:p>
            <a:pPr lvl="1"/>
            <a:r>
              <a:rPr lang="en-US" dirty="0" err="1"/>
              <a:t>document.querySelector</a:t>
            </a:r>
            <a:r>
              <a:rPr lang="en-US" dirty="0"/>
              <a:t>()</a:t>
            </a:r>
          </a:p>
          <a:p>
            <a:r>
              <a:rPr lang="en-US" dirty="0"/>
              <a:t>Fetching Node Collections via </a:t>
            </a:r>
          </a:p>
          <a:p>
            <a:pPr lvl="1"/>
            <a:r>
              <a:rPr lang="en-US" dirty="0" err="1"/>
              <a:t>document.querySelectorAll</a:t>
            </a:r>
            <a:r>
              <a:rPr lang="en-US" dirty="0"/>
              <a:t>()</a:t>
            </a:r>
          </a:p>
          <a:p>
            <a:r>
              <a:rPr lang="en-US" dirty="0"/>
              <a:t>Iteration Over Static </a:t>
            </a:r>
            <a:r>
              <a:rPr lang="en-US" dirty="0" err="1"/>
              <a:t>NodeList</a:t>
            </a:r>
            <a:r>
              <a:rPr lang="en-US" dirty="0"/>
              <a:t> safely</a:t>
            </a:r>
          </a:p>
        </p:txBody>
      </p:sp>
      <p:sp>
        <p:nvSpPr>
          <p:cNvPr id="4" name="Slide Number Placeholder 3">
            <a:extLst>
              <a:ext uri="{FF2B5EF4-FFF2-40B4-BE49-F238E27FC236}">
                <a16:creationId xmlns:a16="http://schemas.microsoft.com/office/drawing/2014/main" id="{DE36B5D4-99B4-427C-159F-B1FB593394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4137705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B3379-9A93-E0EE-8040-A270A4174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8A1B9-F376-23BA-ABE9-518B3901C823}"/>
              </a:ext>
            </a:extLst>
          </p:cNvPr>
          <p:cNvSpPr>
            <a:spLocks noGrp="1"/>
          </p:cNvSpPr>
          <p:nvPr>
            <p:ph type="title"/>
          </p:nvPr>
        </p:nvSpPr>
        <p:spPr/>
        <p:txBody>
          <a:bodyPr/>
          <a:lstStyle/>
          <a:p>
            <a:r>
              <a:rPr lang="en-US" dirty="0"/>
              <a:t>Live Manipulation of Elements</a:t>
            </a:r>
          </a:p>
        </p:txBody>
      </p:sp>
      <p:sp>
        <p:nvSpPr>
          <p:cNvPr id="3" name="Text Placeholder 2">
            <a:extLst>
              <a:ext uri="{FF2B5EF4-FFF2-40B4-BE49-F238E27FC236}">
                <a16:creationId xmlns:a16="http://schemas.microsoft.com/office/drawing/2014/main" id="{68713B48-655B-83F1-1614-C2F3952F30F6}"/>
              </a:ext>
            </a:extLst>
          </p:cNvPr>
          <p:cNvSpPr>
            <a:spLocks noGrp="1"/>
          </p:cNvSpPr>
          <p:nvPr>
            <p:ph type="body" idx="1"/>
          </p:nvPr>
        </p:nvSpPr>
        <p:spPr/>
        <p:txBody>
          <a:bodyPr/>
          <a:lstStyle/>
          <a:p>
            <a:r>
              <a:rPr lang="en-US" dirty="0"/>
              <a:t>Modifying Node Content ( </a:t>
            </a:r>
            <a:r>
              <a:rPr lang="en-US" dirty="0" err="1"/>
              <a:t>textContent</a:t>
            </a:r>
            <a:r>
              <a:rPr lang="en-US" dirty="0"/>
              <a:t> vs. </a:t>
            </a:r>
            <a:r>
              <a:rPr lang="en-US" dirty="0" err="1"/>
              <a:t>innerHTML</a:t>
            </a:r>
            <a:r>
              <a:rPr lang="en-US" dirty="0"/>
              <a:t>)</a:t>
            </a:r>
          </a:p>
          <a:p>
            <a:r>
              <a:rPr lang="en-US" dirty="0"/>
              <a:t>Updating Visual Presentations via the Element .style Object</a:t>
            </a:r>
          </a:p>
          <a:p>
            <a:r>
              <a:rPr lang="en-US" dirty="0"/>
              <a:t>Safe Management of Structural State via .</a:t>
            </a:r>
            <a:r>
              <a:rPr lang="en-US" dirty="0" err="1"/>
              <a:t>classList</a:t>
            </a:r>
            <a:endParaRPr lang="en-US" dirty="0"/>
          </a:p>
        </p:txBody>
      </p:sp>
      <p:sp>
        <p:nvSpPr>
          <p:cNvPr id="4" name="Slide Number Placeholder 3">
            <a:extLst>
              <a:ext uri="{FF2B5EF4-FFF2-40B4-BE49-F238E27FC236}">
                <a16:creationId xmlns:a16="http://schemas.microsoft.com/office/drawing/2014/main" id="{4450D869-7D11-DCED-1B39-5EDCB4622A5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835840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3FA13-9B07-3634-2A7B-C3FD1EE58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9C9159-77E0-C580-6C50-3CC3D9467EB2}"/>
              </a:ext>
            </a:extLst>
          </p:cNvPr>
          <p:cNvSpPr>
            <a:spLocks noGrp="1"/>
          </p:cNvSpPr>
          <p:nvPr>
            <p:ph type="title"/>
          </p:nvPr>
        </p:nvSpPr>
        <p:spPr/>
        <p:txBody>
          <a:bodyPr/>
          <a:lstStyle/>
          <a:p>
            <a:r>
              <a:rPr lang="en-US" dirty="0"/>
              <a:t>Registering Interactions: Event Listeners</a:t>
            </a:r>
          </a:p>
        </p:txBody>
      </p:sp>
      <p:sp>
        <p:nvSpPr>
          <p:cNvPr id="3" name="Text Placeholder 2">
            <a:extLst>
              <a:ext uri="{FF2B5EF4-FFF2-40B4-BE49-F238E27FC236}">
                <a16:creationId xmlns:a16="http://schemas.microsoft.com/office/drawing/2014/main" id="{40540371-63EB-F085-1C9D-4477B6A60BEB}"/>
              </a:ext>
            </a:extLst>
          </p:cNvPr>
          <p:cNvSpPr>
            <a:spLocks noGrp="1"/>
          </p:cNvSpPr>
          <p:nvPr>
            <p:ph type="body" idx="1"/>
          </p:nvPr>
        </p:nvSpPr>
        <p:spPr/>
        <p:txBody>
          <a:bodyPr/>
          <a:lstStyle/>
          <a:p>
            <a:r>
              <a:rPr lang="en-US" dirty="0"/>
              <a:t>Binding Triggers via </a:t>
            </a:r>
          </a:p>
          <a:p>
            <a:pPr lvl="1"/>
            <a:r>
              <a:rPr lang="en-US" dirty="0" err="1"/>
              <a:t>element.addEventListener</a:t>
            </a:r>
            <a:r>
              <a:rPr lang="en-US" dirty="0"/>
              <a:t>()</a:t>
            </a:r>
          </a:p>
          <a:p>
            <a:r>
              <a:rPr lang="en-US" dirty="0"/>
              <a:t> Specifying Interaction Signals </a:t>
            </a:r>
          </a:p>
          <a:p>
            <a:pPr lvl="1"/>
            <a:r>
              <a:rPr lang="en-US" dirty="0"/>
              <a:t>click, submit, </a:t>
            </a:r>
            <a:r>
              <a:rPr lang="en-US" dirty="0" err="1"/>
              <a:t>keyup</a:t>
            </a:r>
            <a:endParaRPr lang="en-US" dirty="0"/>
          </a:p>
          <a:p>
            <a:r>
              <a:rPr lang="en-US" dirty="0"/>
              <a:t>Decoupling the Event Type from the Callback Logic</a:t>
            </a:r>
          </a:p>
        </p:txBody>
      </p:sp>
      <p:sp>
        <p:nvSpPr>
          <p:cNvPr id="4" name="Slide Number Placeholder 3">
            <a:extLst>
              <a:ext uri="{FF2B5EF4-FFF2-40B4-BE49-F238E27FC236}">
                <a16:creationId xmlns:a16="http://schemas.microsoft.com/office/drawing/2014/main" id="{337F7459-1954-DCEC-9476-D2AAF1F18F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3232065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C32D9-6B87-5FA6-C94A-E56E42DA9A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1FC3B-4F27-B2F9-FBC5-0A688B4EC216}"/>
              </a:ext>
            </a:extLst>
          </p:cNvPr>
          <p:cNvSpPr>
            <a:spLocks noGrp="1"/>
          </p:cNvSpPr>
          <p:nvPr>
            <p:ph type="title"/>
          </p:nvPr>
        </p:nvSpPr>
        <p:spPr/>
        <p:txBody>
          <a:bodyPr/>
          <a:lstStyle/>
          <a:p>
            <a:r>
              <a:rPr lang="en-US" dirty="0"/>
              <a:t>Event Propagation: Bubbling and Capturing Phases</a:t>
            </a:r>
          </a:p>
        </p:txBody>
      </p:sp>
      <p:sp>
        <p:nvSpPr>
          <p:cNvPr id="3" name="Text Placeholder 2">
            <a:extLst>
              <a:ext uri="{FF2B5EF4-FFF2-40B4-BE49-F238E27FC236}">
                <a16:creationId xmlns:a16="http://schemas.microsoft.com/office/drawing/2014/main" id="{8A925B98-2893-7607-5C40-CF00544A91CD}"/>
              </a:ext>
            </a:extLst>
          </p:cNvPr>
          <p:cNvSpPr>
            <a:spLocks noGrp="1"/>
          </p:cNvSpPr>
          <p:nvPr>
            <p:ph type="body" idx="1"/>
          </p:nvPr>
        </p:nvSpPr>
        <p:spPr/>
        <p:txBody>
          <a:bodyPr/>
          <a:lstStyle/>
          <a:p>
            <a:r>
              <a:rPr lang="en-US" dirty="0"/>
              <a:t>The Event Flow: Capturing Downward, Bubbling Upward</a:t>
            </a:r>
          </a:p>
          <a:p>
            <a:r>
              <a:rPr lang="en-US" dirty="0"/>
              <a:t>Intercepting Event Intersection via</a:t>
            </a:r>
          </a:p>
          <a:p>
            <a:pPr lvl="1"/>
            <a:r>
              <a:rPr lang="en-US" dirty="0" err="1"/>
              <a:t>event.target</a:t>
            </a:r>
            <a:endParaRPr lang="en-US" dirty="0"/>
          </a:p>
          <a:p>
            <a:r>
              <a:rPr lang="en-US" dirty="0"/>
              <a:t>Halting Execution Cascades with </a:t>
            </a:r>
          </a:p>
          <a:p>
            <a:pPr lvl="1"/>
            <a:r>
              <a:rPr lang="en-US" dirty="0" err="1"/>
              <a:t>event.stopPropagation</a:t>
            </a:r>
            <a:r>
              <a:rPr lang="en-US" dirty="0"/>
              <a:t>()</a:t>
            </a:r>
          </a:p>
          <a:p>
            <a:pPr lvl="1"/>
            <a:endParaRPr lang="en-US" dirty="0"/>
          </a:p>
        </p:txBody>
      </p:sp>
      <p:sp>
        <p:nvSpPr>
          <p:cNvPr id="4" name="Slide Number Placeholder 3">
            <a:extLst>
              <a:ext uri="{FF2B5EF4-FFF2-40B4-BE49-F238E27FC236}">
                <a16:creationId xmlns:a16="http://schemas.microsoft.com/office/drawing/2014/main" id="{5ADC222B-D5A9-E46D-400A-17C6ED00D3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extLst>
      <p:ext uri="{BB962C8B-B14F-4D97-AF65-F5344CB8AC3E}">
        <p14:creationId xmlns:p14="http://schemas.microsoft.com/office/powerpoint/2010/main" val="1809028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Q&amp;A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5" name="Picture 4"/>
          <p:cNvPicPr>
            <a:picLocks noChangeAspect="1"/>
          </p:cNvPicPr>
          <p:nvPr/>
        </p:nvPicPr>
        <p:blipFill>
          <a:blip r:embed="rId2"/>
          <a:stretch>
            <a:fillRect/>
          </a:stretch>
        </p:blipFill>
        <p:spPr>
          <a:xfrm>
            <a:off x="814275" y="1862668"/>
            <a:ext cx="4402663" cy="1761065"/>
          </a:xfrm>
          <a:prstGeom prst="rect">
            <a:avLst/>
          </a:prstGeom>
        </p:spPr>
      </p:pic>
      <p:pic>
        <p:nvPicPr>
          <p:cNvPr id="6" name="Picture 5"/>
          <p:cNvPicPr>
            <a:picLocks noChangeAspect="1"/>
          </p:cNvPicPr>
          <p:nvPr/>
        </p:nvPicPr>
        <p:blipFill>
          <a:blip r:embed="rId3"/>
          <a:stretch>
            <a:fillRect/>
          </a:stretch>
        </p:blipFill>
        <p:spPr>
          <a:xfrm>
            <a:off x="5912731" y="1862668"/>
            <a:ext cx="1944335" cy="1944335"/>
          </a:xfrm>
          <a:prstGeom prst="rect">
            <a:avLst/>
          </a:prstGeom>
        </p:spPr>
      </p:pic>
    </p:spTree>
    <p:extLst>
      <p:ext uri="{BB962C8B-B14F-4D97-AF65-F5344CB8AC3E}">
        <p14:creationId xmlns:p14="http://schemas.microsoft.com/office/powerpoint/2010/main" val="2863282085"/>
      </p:ext>
    </p:extLst>
  </p:cSld>
  <p:clrMapOvr>
    <a:masterClrMapping/>
  </p:clrMapOvr>
</p:sld>
</file>

<file path=ppt/theme/theme1.xml><?xml version="1.0" encoding="utf-8"?>
<a:theme xmlns:a="http://schemas.openxmlformats.org/drawingml/2006/main" name="Saleri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0</TotalTime>
  <Words>784</Words>
  <Application>Microsoft Office PowerPoint</Application>
  <PresentationFormat>On-screen Show (16:9)</PresentationFormat>
  <Paragraphs>75</Paragraphs>
  <Slides>14</Slides>
  <Notes>9</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Salerio template</vt:lpstr>
      <vt:lpstr>IS 312 Web Design and Programing</vt:lpstr>
      <vt:lpstr>Welcome to Programmable Web Architectures</vt:lpstr>
      <vt:lpstr>Getting Started with Client-Side Scripts</vt:lpstr>
      <vt:lpstr>Essential Language Primitives</vt:lpstr>
      <vt:lpstr>Control Flow: Conditional and Functional Execution</vt:lpstr>
      <vt:lpstr>Code Expample </vt:lpstr>
      <vt:lpstr>Advanced Iteration and Arrow Functions</vt:lpstr>
      <vt:lpstr>Code Examples Arrow Functions</vt:lpstr>
      <vt:lpstr>The Document Object Model DOM</vt:lpstr>
      <vt:lpstr>Querying and Query Selections (DOM)</vt:lpstr>
      <vt:lpstr>Live Manipulation of Elements</vt:lpstr>
      <vt:lpstr>Registering Interactions: Event Listeners</vt:lpstr>
      <vt:lpstr>Event Propagation: Bubbling and Capturing Phases</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Karthik Dinakaran</dc:creator>
  <cp:lastModifiedBy>Jonathan Koerber</cp:lastModifiedBy>
  <cp:revision>2</cp:revision>
  <dcterms:modified xsi:type="dcterms:W3CDTF">2026-07-31T01:39:36Z</dcterms:modified>
</cp:coreProperties>
</file>