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7" r:id="rId1"/>
  </p:sldMasterIdLst>
  <p:notesMasterIdLst>
    <p:notesMasterId r:id="rId32"/>
  </p:notesMasterIdLst>
  <p:sldIdLst>
    <p:sldId id="256" r:id="rId2"/>
    <p:sldId id="274" r:id="rId3"/>
    <p:sldId id="275"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2" r:id="rId30"/>
    <p:sldId id="276" r:id="rId3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FE44F72-D7B3-41EB-977B-2E401710A9A8}">
  <a:tblStyle styleId="{1FE44F72-D7B3-41EB-977B-2E401710A9A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8" y="10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t>Welcome, everyone. Today we are transitioning from people who simply consume the web to the engineers who build it. This lecture covers the foundational tools, execution workflows, and architectural concepts required to build production-ready applications.</a:t>
            </a:r>
          </a:p>
        </p:txBody>
      </p:sp>
    </p:spTree>
    <p:extLst>
      <p:ext uri="{BB962C8B-B14F-4D97-AF65-F5344CB8AC3E}">
        <p14:creationId xmlns:p14="http://schemas.microsoft.com/office/powerpoint/2010/main" val="1647853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Building a website at scale is a collaborative ecosystem. UI/UX designers create the visuals, frontend engineers translate those designs into code, backend engineers manage servers and databases, and DevOps/SecOps ensure continuous, secure deployment.</a:t>
            </a:r>
          </a:p>
        </p:txBody>
      </p:sp>
    </p:spTree>
    <p:extLst>
      <p:ext uri="{BB962C8B-B14F-4D97-AF65-F5344CB8AC3E}">
        <p14:creationId xmlns:p14="http://schemas.microsoft.com/office/powerpoint/2010/main" val="2106372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Your primary environment consists of a robust text editor and a browser. Browser </a:t>
            </a:r>
            <a:r>
              <a:rPr lang="en-US" err="1"/>
              <a:t>DevTools</a:t>
            </a:r>
            <a:r>
              <a:rPr lang="en-US"/>
              <a:t> act as an absolute necessity for inspecting the live DOM, debugging scripts, and analyzing real-time network traffic.</a:t>
            </a:r>
          </a:p>
        </p:txBody>
      </p:sp>
    </p:spTree>
    <p:extLst>
      <p:ext uri="{BB962C8B-B14F-4D97-AF65-F5344CB8AC3E}">
        <p14:creationId xmlns:p14="http://schemas.microsoft.com/office/powerpoint/2010/main" val="1627907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Before writing code, we must track it. Git is a distributed version control system. It takes snapshots of our codebase, allowing us to experiment safely without breaking working production environments.</a:t>
            </a:r>
          </a:p>
        </p:txBody>
      </p:sp>
    </p:spTree>
    <p:extLst>
      <p:ext uri="{BB962C8B-B14F-4D97-AF65-F5344CB8AC3E}">
        <p14:creationId xmlns:p14="http://schemas.microsoft.com/office/powerpoint/2010/main" val="1353673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build directly on your production master or main branch. We create feature branches to isolate changes. Once verified locally, we push our branch to a remote server like GitHub to share it with our engineering team</a:t>
            </a:r>
          </a:p>
        </p:txBody>
      </p:sp>
    </p:spTree>
    <p:extLst>
      <p:ext uri="{BB962C8B-B14F-4D97-AF65-F5344CB8AC3E}">
        <p14:creationId xmlns:p14="http://schemas.microsoft.com/office/powerpoint/2010/main" val="1071182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code goes live, it goes through peer review via a Pull Request. Team members analyze line-by-line changes for bugs or compliance drift, automated tests verify the build, and only then is it merged into the main codebase.</a:t>
            </a:r>
          </a:p>
        </p:txBody>
      </p:sp>
    </p:spTree>
    <p:extLst>
      <p:ext uri="{BB962C8B-B14F-4D97-AF65-F5344CB8AC3E}">
        <p14:creationId xmlns:p14="http://schemas.microsoft.com/office/powerpoint/2010/main" val="2360279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code is merged, deployment mechanisms compile the assets and move them onto public cloud infrastructure or web hosting environments, making our code accessible to global users.</a:t>
            </a:r>
          </a:p>
        </p:txBody>
      </p:sp>
    </p:spTree>
    <p:extLst>
      <p:ext uri="{BB962C8B-B14F-4D97-AF65-F5344CB8AC3E}">
        <p14:creationId xmlns:p14="http://schemas.microsoft.com/office/powerpoint/2010/main" val="2498608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build for the web, you must understand how data travels. Web architecture operates on a client-server model: clients request information, and servers store, process, and return that data.</a:t>
            </a:r>
          </a:p>
        </p:txBody>
      </p:sp>
    </p:spTree>
    <p:extLst>
      <p:ext uri="{BB962C8B-B14F-4D97-AF65-F5344CB8AC3E}">
        <p14:creationId xmlns:p14="http://schemas.microsoft.com/office/powerpoint/2010/main" val="3997669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client is the end-user's browser. Browsers are advanced translation engines. They take flat text files sent over the internet and interpret them into interactive, visual experiences.</a:t>
            </a:r>
          </a:p>
        </p:txBody>
      </p:sp>
    </p:spTree>
    <p:extLst>
      <p:ext uri="{BB962C8B-B14F-4D97-AF65-F5344CB8AC3E}">
        <p14:creationId xmlns:p14="http://schemas.microsoft.com/office/powerpoint/2010/main" val="3028597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is the end-user's browser. Browsers are advanced translation engines. They take flat text files sent over the internet and interpret them into interactive, visual experiences.</a:t>
            </a:r>
          </a:p>
        </p:txBody>
      </p:sp>
    </p:spTree>
    <p:extLst>
      <p:ext uri="{BB962C8B-B14F-4D97-AF65-F5344CB8AC3E}">
        <p14:creationId xmlns:p14="http://schemas.microsoft.com/office/powerpoint/2010/main" val="3795096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URL is the explicit address of a resource on the internet. It tells the browser which communication protocol to use and defines the exact server destination host name to look for.</a:t>
            </a:r>
          </a:p>
        </p:txBody>
      </p:sp>
    </p:spTree>
    <p:extLst>
      <p:ext uri="{BB962C8B-B14F-4D97-AF65-F5344CB8AC3E}">
        <p14:creationId xmlns:p14="http://schemas.microsoft.com/office/powerpoint/2010/main" val="3100349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Computers don't communicate using names like 'google.com'; they use numerical IP addresses. The Domain Name System, or DNS, acts as a global lookup phonebook that instantly translates human-readable domain names into machine-routable IP addresses.</a:t>
            </a:r>
          </a:p>
        </p:txBody>
      </p:sp>
    </p:spTree>
    <p:extLst>
      <p:ext uri="{BB962C8B-B14F-4D97-AF65-F5344CB8AC3E}">
        <p14:creationId xmlns:p14="http://schemas.microsoft.com/office/powerpoint/2010/main" val="4209035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browser asks a server for a page, it issues an HTTP request. A </a:t>
            </a:r>
            <a:r>
              <a:rPr lang="en-US" sz="1100" b="0" i="0" u="none" strike="noStrike" cap="none" dirty="0">
                <a:solidFill>
                  <a:srgbClr val="000000"/>
                </a:solidFill>
                <a:latin typeface="Arial"/>
                <a:ea typeface="Arial"/>
                <a:cs typeface="Arial"/>
                <a:sym typeface="Arial"/>
              </a:rPr>
              <a:t>GET</a:t>
            </a:r>
            <a:r>
              <a:rPr lang="en-US" dirty="0"/>
              <a:t> request asks for data, while a </a:t>
            </a:r>
            <a:r>
              <a:rPr lang="en-US" sz="1100" b="0" i="0" u="none" strike="noStrike" cap="none" dirty="0">
                <a:solidFill>
                  <a:srgbClr val="000000"/>
                </a:solidFill>
                <a:latin typeface="Arial"/>
                <a:ea typeface="Arial"/>
                <a:cs typeface="Arial"/>
                <a:sym typeface="Arial"/>
              </a:rPr>
              <a:t>POST</a:t>
            </a:r>
            <a:r>
              <a:rPr lang="en-US" dirty="0"/>
              <a:t> request sends data. The request headers contain metadata, like browser type and language preferences.</a:t>
            </a:r>
          </a:p>
        </p:txBody>
      </p:sp>
    </p:spTree>
    <p:extLst>
      <p:ext uri="{BB962C8B-B14F-4D97-AF65-F5344CB8AC3E}">
        <p14:creationId xmlns:p14="http://schemas.microsoft.com/office/powerpoint/2010/main" val="20458563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answers with an HTTP response containing a status code. 200 means everything loaded perfectly. 404 indicates the requested file does not exist, and 500 means the server's internal programming crashed.</a:t>
            </a:r>
          </a:p>
        </p:txBody>
      </p:sp>
    </p:spTree>
    <p:extLst>
      <p:ext uri="{BB962C8B-B14F-4D97-AF65-F5344CB8AC3E}">
        <p14:creationId xmlns:p14="http://schemas.microsoft.com/office/powerpoint/2010/main" val="1842785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traveling across the web are broken down into tiny packets. Large images or bloated scripts take longer to transmit over limited bandwidth, increasing latency. Optimizing asset sizes is critical for a fast user experience.</a:t>
            </a:r>
          </a:p>
        </p:txBody>
      </p:sp>
    </p:spTree>
    <p:extLst>
      <p:ext uri="{BB962C8B-B14F-4D97-AF65-F5344CB8AC3E}">
        <p14:creationId xmlns:p14="http://schemas.microsoft.com/office/powerpoint/2010/main" val="16926192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BEA9B-915C-4FE0-751D-094E4CC02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A5A24-5776-791E-7138-41BF4F1CE4A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91ABD8-C6FA-C01C-2C80-8BF8ADA75590}"/>
              </a:ext>
            </a:extLst>
          </p:cNvPr>
          <p:cNvSpPr>
            <a:spLocks noGrp="1"/>
          </p:cNvSpPr>
          <p:nvPr>
            <p:ph type="body" idx="1"/>
          </p:nvPr>
        </p:nvSpPr>
        <p:spPr/>
        <p:txBody>
          <a:bodyPr/>
          <a:lstStyle/>
          <a:p>
            <a:r>
              <a:rPr lang="en-US" dirty="0"/>
              <a:t>Modern websites don't sit on a single server in an office. They leverage global cloud infrastructures and Content Delivery Networks, or CDNs, which duplicate static assets across servers around the world to deliver data to users with minimal delay.</a:t>
            </a:r>
          </a:p>
        </p:txBody>
      </p:sp>
    </p:spTree>
    <p:extLst>
      <p:ext uri="{BB962C8B-B14F-4D97-AF65-F5344CB8AC3E}">
        <p14:creationId xmlns:p14="http://schemas.microsoft.com/office/powerpoint/2010/main" val="4065300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4EC72-8312-0FF6-BF74-A851EF5AC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32C4F-5C20-16D3-3632-9A27DABBE62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A7EB3D-E1E7-BE40-30B5-AA5EA6F6CDFD}"/>
              </a:ext>
            </a:extLst>
          </p:cNvPr>
          <p:cNvSpPr>
            <a:spLocks noGrp="1"/>
          </p:cNvSpPr>
          <p:nvPr>
            <p:ph type="body" idx="1"/>
          </p:nvPr>
        </p:nvSpPr>
        <p:spPr/>
        <p:txBody>
          <a:bodyPr/>
          <a:lstStyle/>
          <a:p>
            <a:r>
              <a:rPr lang="en-US" dirty="0"/>
              <a:t>As we shift to development theory, we focus on foundational design philosophies. Our absolute core rule is the Separation of Concerns: splitting structure, style, and behavior into distinct layers.</a:t>
            </a:r>
          </a:p>
        </p:txBody>
      </p:sp>
    </p:spTree>
    <p:extLst>
      <p:ext uri="{BB962C8B-B14F-4D97-AF65-F5344CB8AC3E}">
        <p14:creationId xmlns:p14="http://schemas.microsoft.com/office/powerpoint/2010/main" val="27174764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9C0FE-9281-E205-2871-50B5FDB2A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BF5FE-E7FA-9424-F572-37E6C65B9EB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7AFB09-37A9-AEE6-7DA1-9D21A62067F2}"/>
              </a:ext>
            </a:extLst>
          </p:cNvPr>
          <p:cNvSpPr>
            <a:spLocks noGrp="1"/>
          </p:cNvSpPr>
          <p:nvPr>
            <p:ph type="body" idx="1"/>
          </p:nvPr>
        </p:nvSpPr>
        <p:spPr/>
        <p:txBody>
          <a:bodyPr/>
          <a:lstStyle/>
          <a:p>
            <a:r>
              <a:rPr lang="en-US" dirty="0"/>
              <a:t>Progressive enhancement means building a bulletproof foundational core using plain HTML so that content is readable on </a:t>
            </a:r>
            <a:r>
              <a:rPr lang="en-US" i="1" dirty="0"/>
              <a:t>any</a:t>
            </a:r>
            <a:r>
              <a:rPr lang="en-US" dirty="0"/>
              <a:t> browser or screen reader. Once that foundation is solid, we layer on advanced CSS styles and JavaScript features for modern devices</a:t>
            </a:r>
          </a:p>
        </p:txBody>
      </p:sp>
    </p:spTree>
    <p:extLst>
      <p:ext uri="{BB962C8B-B14F-4D97-AF65-F5344CB8AC3E}">
        <p14:creationId xmlns:p14="http://schemas.microsoft.com/office/powerpoint/2010/main" val="1736977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ED96-EBC0-D59A-3B7A-D48715ADF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40612-7CC6-3442-63C9-43BD79FDB98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ADB96DD-7017-ED24-89A1-6414138E617B}"/>
              </a:ext>
            </a:extLst>
          </p:cNvPr>
          <p:cNvSpPr>
            <a:spLocks noGrp="1"/>
          </p:cNvSpPr>
          <p:nvPr>
            <p:ph type="body" idx="1"/>
          </p:nvPr>
        </p:nvSpPr>
        <p:spPr/>
        <p:txBody>
          <a:bodyPr/>
          <a:lstStyle/>
          <a:p>
            <a:r>
              <a:rPr lang="en-US" dirty="0"/>
              <a:t>Web accessibility means ensuring your application can be used by everyone, including individuals with visual, auditory, or motor impairments. Writing proper semantic code ensures that assistive tools like screen readers can easily parse your page layout.</a:t>
            </a:r>
          </a:p>
        </p:txBody>
      </p:sp>
    </p:spTree>
    <p:extLst>
      <p:ext uri="{BB962C8B-B14F-4D97-AF65-F5344CB8AC3E}">
        <p14:creationId xmlns:p14="http://schemas.microsoft.com/office/powerpoint/2010/main" val="7893282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AA725-8E89-3386-A8E0-A33E1C593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037A3-302D-069C-6707-F3AF9A61D2A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7A96651-4C9F-BF06-192A-891E0133DE48}"/>
              </a:ext>
            </a:extLst>
          </p:cNvPr>
          <p:cNvSpPr>
            <a:spLocks noGrp="1"/>
          </p:cNvSpPr>
          <p:nvPr>
            <p:ph type="body" idx="1"/>
          </p:nvPr>
        </p:nvSpPr>
        <p:spPr/>
        <p:txBody>
          <a:bodyPr/>
          <a:lstStyle/>
          <a:p>
            <a:r>
              <a:rPr lang="en-US" dirty="0"/>
              <a:t>Websites are viewed on devices ranging from small smartwatches to massive 4K monitors. Responsive web design is the philosophy of using fluid grids and layout rules so a single codebase dynamically morphs to fit any screen resolution perfectly.</a:t>
            </a:r>
          </a:p>
        </p:txBody>
      </p:sp>
    </p:spTree>
    <p:extLst>
      <p:ext uri="{BB962C8B-B14F-4D97-AF65-F5344CB8AC3E}">
        <p14:creationId xmlns:p14="http://schemas.microsoft.com/office/powerpoint/2010/main" val="1936014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1C6A7-8BF8-D409-AD0E-FE95551DD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2F105-7134-5918-C718-81B385C978D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F036EE-61D9-C2B1-5BB3-AE332B3C9DF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041988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0D0E3-72EB-3F9A-BBB5-FF22AB931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F21A2-7BE1-618A-707C-4CF8ACEAC86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3DEA78D-085A-CF0D-7F7F-7D49B773DBA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600579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51DB0-CED0-521F-1216-19252D7D7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BF267-BEE7-F5AD-C34A-CB1F546FD10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C61CA35-3D1A-B1B3-E22D-7E4CFC6CA7FC}"/>
              </a:ext>
            </a:extLst>
          </p:cNvPr>
          <p:cNvSpPr>
            <a:spLocks noGrp="1"/>
          </p:cNvSpPr>
          <p:nvPr>
            <p:ph type="body" idx="1"/>
          </p:nvPr>
        </p:nvSpPr>
        <p:spPr/>
        <p:txBody>
          <a:bodyPr/>
          <a:lstStyle/>
          <a:p>
            <a:r>
              <a:rPr lang="en-US" dirty="0"/>
              <a:t>Let's build a page. Every HTML5 document begins with a DOCTYPE declaration telling the browser to expect standard HTML5. This is followed by our root html tag, which splits into two main sections: the head and the body</a:t>
            </a:r>
          </a:p>
        </p:txBody>
      </p:sp>
    </p:spTree>
    <p:extLst>
      <p:ext uri="{BB962C8B-B14F-4D97-AF65-F5344CB8AC3E}">
        <p14:creationId xmlns:p14="http://schemas.microsoft.com/office/powerpoint/2010/main" val="8186039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0EFC1-EBA2-7321-37CB-652745722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E941C-BBB6-9AF4-E80E-29BE5655B97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C272137-5037-EF16-F1DA-09EAF4023E74}"/>
              </a:ext>
            </a:extLst>
          </p:cNvPr>
          <p:cNvSpPr>
            <a:spLocks noGrp="1"/>
          </p:cNvSpPr>
          <p:nvPr>
            <p:ph type="body" idx="1"/>
          </p:nvPr>
        </p:nvSpPr>
        <p:spPr/>
        <p:txBody>
          <a:bodyPr/>
          <a:lstStyle/>
          <a:p>
            <a:r>
              <a:rPr lang="en-US" dirty="0"/>
              <a:t>The </a:t>
            </a:r>
            <a:r>
              <a:rPr lang="en-US" sz="1100" b="0" i="0" u="none" strike="noStrike" cap="none" dirty="0">
                <a:solidFill>
                  <a:srgbClr val="000000"/>
                </a:solidFill>
                <a:latin typeface="Arial"/>
                <a:ea typeface="Arial"/>
                <a:cs typeface="Arial"/>
                <a:sym typeface="Arial"/>
              </a:rPr>
              <a:t>&lt;head&gt;</a:t>
            </a:r>
            <a:r>
              <a:rPr lang="en-US" dirty="0"/>
              <a:t> element contains information </a:t>
            </a:r>
            <a:r>
              <a:rPr lang="en-US" i="1" dirty="0"/>
              <a:t>about</a:t>
            </a:r>
            <a:r>
              <a:rPr lang="en-US" dirty="0"/>
              <a:t> the page—such as character encoding, page titles, and external stylesheets. The </a:t>
            </a:r>
            <a:r>
              <a:rPr lang="en-US" sz="1100" b="0" i="0" u="none" strike="noStrike" cap="none" dirty="0">
                <a:solidFill>
                  <a:srgbClr val="000000"/>
                </a:solidFill>
                <a:latin typeface="Arial"/>
                <a:ea typeface="Arial"/>
                <a:cs typeface="Arial"/>
                <a:sym typeface="Arial"/>
              </a:rPr>
              <a:t>&lt;body&gt;</a:t>
            </a:r>
            <a:r>
              <a:rPr lang="en-US" dirty="0"/>
              <a:t> contains the actual visible elements—headings, paragraphs, and images—that users interact with on screen.</a:t>
            </a:r>
          </a:p>
        </p:txBody>
      </p:sp>
    </p:spTree>
    <p:extLst>
      <p:ext uri="{BB962C8B-B14F-4D97-AF65-F5344CB8AC3E}">
        <p14:creationId xmlns:p14="http://schemas.microsoft.com/office/powerpoint/2010/main" val="12245979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ED949-63E0-C0BA-D04B-BF6AFDE0D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BA27F-2A1E-EDAD-7645-ACBD824C133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BBD666-CB4B-C916-54DC-B1AAA3BFAD67}"/>
              </a:ext>
            </a:extLst>
          </p:cNvPr>
          <p:cNvSpPr>
            <a:spLocks noGrp="1"/>
          </p:cNvSpPr>
          <p:nvPr>
            <p:ph type="body" idx="1"/>
          </p:nvPr>
        </p:nvSpPr>
        <p:spPr/>
        <p:txBody>
          <a:bodyPr/>
          <a:lstStyle/>
          <a:p>
            <a:r>
              <a:rPr lang="en-US" dirty="0"/>
              <a:t>We organize text using semantic tags. </a:t>
            </a:r>
            <a:r>
              <a:rPr lang="en-US" sz="1100" b="0" i="0" u="none" strike="noStrike" cap="none" dirty="0">
                <a:solidFill>
                  <a:srgbClr val="000000"/>
                </a:solidFill>
                <a:latin typeface="Arial"/>
                <a:ea typeface="Arial"/>
                <a:cs typeface="Arial"/>
                <a:sym typeface="Arial"/>
              </a:rPr>
              <a:t>&lt;h1&gt;</a:t>
            </a:r>
            <a:r>
              <a:rPr lang="en-US" dirty="0"/>
              <a:t> represents the main, most important title of the page, scaling down to </a:t>
            </a:r>
            <a:r>
              <a:rPr lang="en-US" sz="1100" b="0" i="0" u="none" strike="noStrike" cap="none" dirty="0">
                <a:solidFill>
                  <a:srgbClr val="000000"/>
                </a:solidFill>
                <a:latin typeface="Arial"/>
                <a:ea typeface="Arial"/>
                <a:cs typeface="Arial"/>
                <a:sym typeface="Arial"/>
              </a:rPr>
              <a:t>&lt;h6&gt;</a:t>
            </a:r>
            <a:r>
              <a:rPr lang="en-US" dirty="0"/>
              <a:t> for deep subheadings. Standard paragraph text blocks are wrapped inside </a:t>
            </a:r>
            <a:r>
              <a:rPr lang="en-US" sz="1100" b="0" i="0" u="none" strike="noStrike" cap="none" dirty="0">
                <a:solidFill>
                  <a:srgbClr val="000000"/>
                </a:solidFill>
                <a:latin typeface="Arial"/>
                <a:ea typeface="Arial"/>
                <a:cs typeface="Arial"/>
                <a:sym typeface="Arial"/>
              </a:rPr>
              <a:t>&lt;p&gt;</a:t>
            </a:r>
            <a:r>
              <a:rPr lang="en-US" dirty="0"/>
              <a:t> tags to maintain clean spacing.</a:t>
            </a:r>
          </a:p>
        </p:txBody>
      </p:sp>
    </p:spTree>
    <p:extLst>
      <p:ext uri="{BB962C8B-B14F-4D97-AF65-F5344CB8AC3E}">
        <p14:creationId xmlns:p14="http://schemas.microsoft.com/office/powerpoint/2010/main" val="25592044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37C3B-1546-DF4F-7153-B2A03F59F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48FE6-022F-D11B-604B-AFC206F76A1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0D2659F-1CB8-A8FB-396A-55271B39975E}"/>
              </a:ext>
            </a:extLst>
          </p:cNvPr>
          <p:cNvSpPr>
            <a:spLocks noGrp="1"/>
          </p:cNvSpPr>
          <p:nvPr>
            <p:ph type="body" idx="1"/>
          </p:nvPr>
        </p:nvSpPr>
        <p:spPr/>
        <p:txBody>
          <a:bodyPr/>
          <a:lstStyle/>
          <a:p>
            <a:r>
              <a:rPr lang="en-US" dirty="0"/>
              <a:t>Avoid using generic containers for everything. Modern HTML5 provides explicit structural tags like </a:t>
            </a:r>
            <a:r>
              <a:rPr lang="en-US" sz="1100" b="0" i="0" u="none" strike="noStrike" cap="none" dirty="0">
                <a:solidFill>
                  <a:srgbClr val="000000"/>
                </a:solidFill>
                <a:latin typeface="Arial"/>
                <a:ea typeface="Arial"/>
                <a:cs typeface="Arial"/>
                <a:sym typeface="Arial"/>
              </a:rPr>
              <a:t>&lt;header&gt;</a:t>
            </a:r>
            <a:r>
              <a:rPr lang="en-US" dirty="0"/>
              <a:t> for branding, </a:t>
            </a:r>
            <a:r>
              <a:rPr lang="en-US" sz="1100" b="0" i="0" u="none" strike="noStrike" cap="none" dirty="0">
                <a:solidFill>
                  <a:srgbClr val="000000"/>
                </a:solidFill>
                <a:latin typeface="Arial"/>
                <a:ea typeface="Arial"/>
                <a:cs typeface="Arial"/>
                <a:sym typeface="Arial"/>
              </a:rPr>
              <a:t>&lt;nav&gt;</a:t>
            </a:r>
            <a:r>
              <a:rPr lang="en-US" dirty="0"/>
              <a:t> for menus, </a:t>
            </a:r>
            <a:r>
              <a:rPr lang="en-US" sz="1100" b="0" i="0" u="none" strike="noStrike" cap="none" dirty="0">
                <a:solidFill>
                  <a:srgbClr val="000000"/>
                </a:solidFill>
                <a:latin typeface="Arial"/>
                <a:ea typeface="Arial"/>
                <a:cs typeface="Arial"/>
                <a:sym typeface="Arial"/>
              </a:rPr>
              <a:t>&lt;main&gt;</a:t>
            </a:r>
            <a:r>
              <a:rPr lang="en-US" dirty="0"/>
              <a:t> for primary text, and </a:t>
            </a:r>
            <a:r>
              <a:rPr lang="en-US" sz="1100" b="0" i="0" u="none" strike="noStrike" cap="none" dirty="0">
                <a:solidFill>
                  <a:srgbClr val="000000"/>
                </a:solidFill>
                <a:latin typeface="Arial"/>
                <a:ea typeface="Arial"/>
                <a:cs typeface="Arial"/>
                <a:sym typeface="Arial"/>
              </a:rPr>
              <a:t>&lt;footer&gt;</a:t>
            </a:r>
            <a:r>
              <a:rPr lang="en-US" dirty="0"/>
              <a:t> for bottom boilerplate info, which clearly organizes your code layout.</a:t>
            </a:r>
          </a:p>
        </p:txBody>
      </p:sp>
    </p:spTree>
    <p:extLst>
      <p:ext uri="{BB962C8B-B14F-4D97-AF65-F5344CB8AC3E}">
        <p14:creationId xmlns:p14="http://schemas.microsoft.com/office/powerpoint/2010/main" val="22395408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04828-626C-2ED0-4830-FA9F7E536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C03D7-3426-7546-A536-8D3BAF2364E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90AA200-D55F-89EA-875F-8B535CABA05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207458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182385" y="0"/>
            <a:ext cx="8661398" cy="5150588"/>
            <a:chOff x="0" y="-7088"/>
            <a:chExt cx="8661398" cy="5150588"/>
          </a:xfrm>
        </p:grpSpPr>
        <p:sp>
          <p:nvSpPr>
            <p:cNvPr id="12" name="Google Shape;12;p2"/>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pic>
        <p:nvPicPr>
          <p:cNvPr id="3" name="Picture 2">
            <a:extLst>
              <a:ext uri="{FF2B5EF4-FFF2-40B4-BE49-F238E27FC236}">
                <a16:creationId xmlns:a16="http://schemas.microsoft.com/office/drawing/2014/main" id="{134F7D0F-FE46-C945-87EB-0FD3D356521A}"/>
              </a:ext>
            </a:extLst>
          </p:cNvPr>
          <p:cNvPicPr>
            <a:picLocks noChangeAspect="1"/>
          </p:cNvPicPr>
          <p:nvPr userDrawn="1"/>
        </p:nvPicPr>
        <p:blipFill>
          <a:blip r:embed="rId2"/>
          <a:stretch>
            <a:fillRect/>
          </a:stretch>
        </p:blipFill>
        <p:spPr>
          <a:xfrm>
            <a:off x="0" y="4243277"/>
            <a:ext cx="914400" cy="9144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88954610"/>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61"/>
        <p:cNvGrpSpPr/>
        <p:nvPr/>
      </p:nvGrpSpPr>
      <p:grpSpPr>
        <a:xfrm>
          <a:off x="0" y="0"/>
          <a:ext cx="0" cy="0"/>
          <a:chOff x="0" y="0"/>
          <a:chExt cx="0" cy="0"/>
        </a:xfrm>
      </p:grpSpPr>
      <p:grpSp>
        <p:nvGrpSpPr>
          <p:cNvPr id="62" name="Google Shape;62;p5"/>
          <p:cNvGrpSpPr/>
          <p:nvPr/>
        </p:nvGrpSpPr>
        <p:grpSpPr>
          <a:xfrm>
            <a:off x="-4" y="40"/>
            <a:ext cx="7072430" cy="1327315"/>
            <a:chOff x="-4" y="40"/>
            <a:chExt cx="7072430" cy="1327315"/>
          </a:xfrm>
        </p:grpSpPr>
        <p:sp>
          <p:nvSpPr>
            <p:cNvPr id="63" name="Google Shape;63;p5"/>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64" name="Google Shape;64;p5"/>
            <p:cNvGrpSpPr/>
            <p:nvPr/>
          </p:nvGrpSpPr>
          <p:grpSpPr>
            <a:xfrm rot="10800000" flipH="1">
              <a:off x="3" y="40"/>
              <a:ext cx="6756168" cy="1327315"/>
              <a:chOff x="-2168138" y="330075"/>
              <a:chExt cx="8650663" cy="1699506"/>
            </a:xfrm>
          </p:grpSpPr>
          <p:sp>
            <p:nvSpPr>
              <p:cNvPr id="65" name="Google Shape;65;p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6" name="Google Shape;66;p5"/>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67" name="Google Shape;67;p5"/>
            <p:cNvGrpSpPr/>
            <p:nvPr/>
          </p:nvGrpSpPr>
          <p:grpSpPr>
            <a:xfrm rot="10800000" flipH="1">
              <a:off x="-4" y="381007"/>
              <a:ext cx="7072430" cy="771744"/>
              <a:chOff x="-9092084" y="330075"/>
              <a:chExt cx="15574609" cy="1699501"/>
            </a:xfrm>
          </p:grpSpPr>
          <p:sp>
            <p:nvSpPr>
              <p:cNvPr id="68" name="Google Shape;68;p5"/>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9" name="Google Shape;69;p5"/>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70" name="Google Shape;70;p5"/>
          <p:cNvGrpSpPr/>
          <p:nvPr/>
        </p:nvGrpSpPr>
        <p:grpSpPr>
          <a:xfrm>
            <a:off x="6946842" y="4472723"/>
            <a:ext cx="2202830" cy="670795"/>
            <a:chOff x="5575242" y="4472723"/>
            <a:chExt cx="2202830" cy="670795"/>
          </a:xfrm>
        </p:grpSpPr>
        <p:sp>
          <p:nvSpPr>
            <p:cNvPr id="71" name="Google Shape;71;p5"/>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5"/>
            <p:cNvGrpSpPr/>
            <p:nvPr/>
          </p:nvGrpSpPr>
          <p:grpSpPr>
            <a:xfrm flipH="1">
              <a:off x="5734850" y="4472723"/>
              <a:ext cx="2040837" cy="670795"/>
              <a:chOff x="1297954" y="330075"/>
              <a:chExt cx="5169293" cy="1699506"/>
            </a:xfrm>
          </p:grpSpPr>
          <p:sp>
            <p:nvSpPr>
              <p:cNvPr id="73" name="Google Shape;73;p5"/>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flipH="1">
              <a:off x="5578209" y="4646738"/>
              <a:ext cx="2199863" cy="304563"/>
              <a:chOff x="-5827153" y="330075"/>
              <a:chExt cx="12276019" cy="1699569"/>
            </a:xfrm>
          </p:grpSpPr>
          <p:sp>
            <p:nvSpPr>
              <p:cNvPr id="76" name="Google Shape;76;p5"/>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sz="36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lstStyle>
            <a:lvl1pPr marL="457200" lvl="0" indent="-381000">
              <a:spcBef>
                <a:spcPts val="600"/>
              </a:spcBef>
              <a:spcAft>
                <a:spcPts val="0"/>
              </a:spcAft>
              <a:buSzPts val="2400"/>
              <a:buChar char="▰"/>
              <a:defRPr sz="2800"/>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2" name="Picture 21">
            <a:extLst>
              <a:ext uri="{FF2B5EF4-FFF2-40B4-BE49-F238E27FC236}">
                <a16:creationId xmlns:a16="http://schemas.microsoft.com/office/drawing/2014/main" id="{C8F7DB91-7595-E64B-B07D-A30575B2CB4C}"/>
              </a:ext>
            </a:extLst>
          </p:cNvPr>
          <p:cNvPicPr>
            <a:picLocks noChangeAspect="1"/>
          </p:cNvPicPr>
          <p:nvPr userDrawn="1"/>
        </p:nvPicPr>
        <p:blipFill>
          <a:blip r:embed="rId2"/>
          <a:stretch>
            <a:fillRect/>
          </a:stretch>
        </p:blipFill>
        <p:spPr>
          <a:xfrm>
            <a:off x="0" y="4253392"/>
            <a:ext cx="914400" cy="914400"/>
          </a:xfrm>
          <a:prstGeom prst="rect">
            <a:avLst/>
          </a:prstGeom>
        </p:spPr>
      </p:pic>
    </p:spTree>
    <p:extLst>
      <p:ext uri="{BB962C8B-B14F-4D97-AF65-F5344CB8AC3E}">
        <p14:creationId xmlns:p14="http://schemas.microsoft.com/office/powerpoint/2010/main" val="3086644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tif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1pPr>
            <a:lvl2pPr lvl="1">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lstStyle>
            <a:lvl1pPr marL="457200" lvl="0" indent="-381000">
              <a:spcBef>
                <a:spcPts val="6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rgbClr val="FFFFFF"/>
                </a:solidFill>
                <a:latin typeface="Roboto Condensed"/>
                <a:ea typeface="Roboto Condensed"/>
                <a:cs typeface="Roboto Condensed"/>
                <a:sym typeface="Roboto Condensed"/>
              </a:defRPr>
            </a:lvl1pPr>
            <a:lvl2pPr lvl="1" algn="r">
              <a:buNone/>
              <a:defRPr sz="1200" b="1">
                <a:solidFill>
                  <a:srgbClr val="FFFFFF"/>
                </a:solidFill>
                <a:latin typeface="Roboto Condensed"/>
                <a:ea typeface="Roboto Condensed"/>
                <a:cs typeface="Roboto Condensed"/>
                <a:sym typeface="Roboto Condensed"/>
              </a:defRPr>
            </a:lvl2pPr>
            <a:lvl3pPr lvl="2" algn="r">
              <a:buNone/>
              <a:defRPr sz="1200" b="1">
                <a:solidFill>
                  <a:srgbClr val="FFFFFF"/>
                </a:solidFill>
                <a:latin typeface="Roboto Condensed"/>
                <a:ea typeface="Roboto Condensed"/>
                <a:cs typeface="Roboto Condensed"/>
                <a:sym typeface="Roboto Condensed"/>
              </a:defRPr>
            </a:lvl3pPr>
            <a:lvl4pPr lvl="3" algn="r">
              <a:buNone/>
              <a:defRPr sz="1200" b="1">
                <a:solidFill>
                  <a:srgbClr val="FFFFFF"/>
                </a:solidFill>
                <a:latin typeface="Roboto Condensed"/>
                <a:ea typeface="Roboto Condensed"/>
                <a:cs typeface="Roboto Condensed"/>
                <a:sym typeface="Roboto Condensed"/>
              </a:defRPr>
            </a:lvl4pPr>
            <a:lvl5pPr lvl="4" algn="r">
              <a:buNone/>
              <a:defRPr sz="1200" b="1">
                <a:solidFill>
                  <a:srgbClr val="FFFFFF"/>
                </a:solidFill>
                <a:latin typeface="Roboto Condensed"/>
                <a:ea typeface="Roboto Condensed"/>
                <a:cs typeface="Roboto Condensed"/>
                <a:sym typeface="Roboto Condensed"/>
              </a:defRPr>
            </a:lvl5pPr>
            <a:lvl6pPr lvl="5" algn="r">
              <a:buNone/>
              <a:defRPr sz="1200" b="1">
                <a:solidFill>
                  <a:srgbClr val="FFFFFF"/>
                </a:solidFill>
                <a:latin typeface="Roboto Condensed"/>
                <a:ea typeface="Roboto Condensed"/>
                <a:cs typeface="Roboto Condensed"/>
                <a:sym typeface="Roboto Condensed"/>
              </a:defRPr>
            </a:lvl6pPr>
            <a:lvl7pPr lvl="6" algn="r">
              <a:buNone/>
              <a:defRPr sz="1200" b="1">
                <a:solidFill>
                  <a:srgbClr val="FFFFFF"/>
                </a:solidFill>
                <a:latin typeface="Roboto Condensed"/>
                <a:ea typeface="Roboto Condensed"/>
                <a:cs typeface="Roboto Condensed"/>
                <a:sym typeface="Roboto Condensed"/>
              </a:defRPr>
            </a:lvl7pPr>
            <a:lvl8pPr lvl="7" algn="r">
              <a:buNone/>
              <a:defRPr sz="1200" b="1">
                <a:solidFill>
                  <a:srgbClr val="FFFFFF"/>
                </a:solidFill>
                <a:latin typeface="Roboto Condensed"/>
                <a:ea typeface="Roboto Condensed"/>
                <a:cs typeface="Roboto Condensed"/>
                <a:sym typeface="Roboto Condensed"/>
              </a:defRPr>
            </a:lvl8pPr>
            <a:lvl9pPr lvl="8" algn="r">
              <a:buNone/>
              <a:defRPr sz="1200" b="1">
                <a:solidFill>
                  <a:srgbClr val="FFFFFF"/>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pic>
        <p:nvPicPr>
          <p:cNvPr id="5" name="Picture 4">
            <a:extLst>
              <a:ext uri="{FF2B5EF4-FFF2-40B4-BE49-F238E27FC236}">
                <a16:creationId xmlns:a16="http://schemas.microsoft.com/office/drawing/2014/main" id="{B9B48145-9848-2F4E-A51E-1AF5F3EC5EAD}"/>
              </a:ext>
            </a:extLst>
          </p:cNvPr>
          <p:cNvPicPr>
            <a:picLocks noChangeAspect="1"/>
          </p:cNvPicPr>
          <p:nvPr userDrawn="1"/>
        </p:nvPicPr>
        <p:blipFill>
          <a:blip r:embed="rId5"/>
          <a:stretch>
            <a:fillRect/>
          </a:stretch>
        </p:blipFill>
        <p:spPr>
          <a:xfrm>
            <a:off x="0" y="4243277"/>
            <a:ext cx="914400" cy="91440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Lst>
  <p:transition>
    <p:fade thruBlk="1"/>
  </p:transition>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155576" y="1177119"/>
            <a:ext cx="7193492" cy="1443251"/>
          </a:xfrm>
          <a:prstGeom prst="rect">
            <a:avLst/>
          </a:prstGeom>
        </p:spPr>
        <p:txBody>
          <a:bodyPr spcFirstLastPara="1" wrap="square" lIns="91425" tIns="91425" rIns="91425" bIns="91425" anchor="ctr" anchorCtr="0">
            <a:noAutofit/>
          </a:bodyPr>
          <a:lstStyle/>
          <a:p>
            <a:r>
              <a:rPr lang="en-US" sz="3600"/>
              <a:t>IS 312 Web Design and Programing</a:t>
            </a:r>
          </a:p>
        </p:txBody>
      </p:sp>
      <p:sp>
        <p:nvSpPr>
          <p:cNvPr id="4" name="AutoShape 8" descr="Image result for city university of seattle logo we are all about the finis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40" name="Picture 16" descr="Image result for city university of seattl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 y="4241800"/>
            <a:ext cx="901700" cy="901700"/>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214;p13"/>
          <p:cNvSpPr txBox="1">
            <a:spLocks/>
          </p:cNvSpPr>
          <p:nvPr/>
        </p:nvSpPr>
        <p:spPr>
          <a:xfrm>
            <a:off x="12422" y="2406435"/>
            <a:ext cx="6404993" cy="153625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76200" indent="0" algn="ctr">
              <a:buNone/>
            </a:pPr>
            <a:r>
              <a:rPr lang="en-US" sz="1500">
                <a:solidFill>
                  <a:schemeClr val="bg1"/>
                </a:solidFill>
              </a:rPr>
              <a:t>Module 01 – Introduction Coding Env, HTML and CSS</a:t>
            </a:r>
          </a:p>
          <a:p>
            <a:pPr marL="76200" indent="0" algn="ctr">
              <a:buNone/>
            </a:pPr>
            <a:r>
              <a:rPr lang="en-US" sz="1500">
                <a:solidFill>
                  <a:schemeClr val="bg1"/>
                </a:solidFill>
              </a:rPr>
              <a:t>School of Technology &amp; Computing (STC)</a:t>
            </a:r>
            <a:endParaRPr lang="en-US">
              <a:solidFill>
                <a:schemeClr val="bg1"/>
              </a:solidFill>
            </a:endParaRPr>
          </a:p>
          <a:p>
            <a:pPr marL="76200" indent="0" algn="ctr">
              <a:buNone/>
            </a:pPr>
            <a:r>
              <a:rPr lang="en-US" sz="1200">
                <a:solidFill>
                  <a:srgbClr val="000000"/>
                </a:solidFill>
                <a:highlight>
                  <a:srgbClr val="FFFFFF"/>
                </a:highlight>
                <a:latin typeface="Calibri"/>
                <a:ea typeface="Calibri"/>
                <a:cs typeface="Calibri"/>
              </a:rPr>
              <a:t>City University of Seattle (</a:t>
            </a:r>
            <a:r>
              <a:rPr lang="en-US" sz="1200" err="1">
                <a:solidFill>
                  <a:srgbClr val="000000"/>
                </a:solidFill>
                <a:highlight>
                  <a:srgbClr val="FFFFFF"/>
                </a:highlight>
                <a:latin typeface="Calibri"/>
                <a:ea typeface="Calibri"/>
                <a:cs typeface="Calibri"/>
              </a:rPr>
              <a:t>CityU</a:t>
            </a:r>
            <a:r>
              <a:rPr lang="en-US" sz="1200">
                <a:solidFill>
                  <a:srgbClr val="000000"/>
                </a:solidFill>
                <a:highlight>
                  <a:srgbClr val="FFFFFF"/>
                </a:highlight>
                <a:latin typeface="Calibri"/>
                <a:ea typeface="Calibri"/>
                <a:cs typeface="Calibri"/>
              </a:rPr>
              <a:t>)</a:t>
            </a:r>
            <a:endParaRPr lang="en-US" sz="1200">
              <a:solidFill>
                <a:srgbClr val="000000"/>
              </a:solidFill>
              <a:highlight>
                <a:srgbClr val="C6C6C6"/>
              </a:highlight>
              <a:latin typeface="Calibri"/>
              <a:ea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Welcome To Web Design</a:t>
            </a:r>
          </a:p>
        </p:txBody>
      </p:sp>
      <p:sp>
        <p:nvSpPr>
          <p:cNvPr id="3" name="Text Placeholder 2"/>
          <p:cNvSpPr>
            <a:spLocks noGrp="1"/>
          </p:cNvSpPr>
          <p:nvPr>
            <p:ph type="body" idx="1"/>
          </p:nvPr>
        </p:nvSpPr>
        <p:spPr>
          <a:xfrm>
            <a:off x="814275" y="1300136"/>
            <a:ext cx="6514632" cy="3172714"/>
          </a:xfrm>
        </p:spPr>
        <p:txBody>
          <a:bodyPr/>
          <a:lstStyle/>
          <a:p>
            <a:r>
              <a:rPr lang="en-US"/>
              <a:t>Introduce the Web design and Development Ecosystem</a:t>
            </a:r>
          </a:p>
          <a:p>
            <a:r>
              <a:rPr lang="en-US"/>
              <a:t>Mapping Moden Web Landscape</a:t>
            </a:r>
          </a:p>
          <a:p>
            <a:r>
              <a:rPr lang="en-US"/>
              <a:t>Transform form Consumer to Creator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2425647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Modern Web Team</a:t>
            </a:r>
          </a:p>
        </p:txBody>
      </p:sp>
      <p:sp>
        <p:nvSpPr>
          <p:cNvPr id="3" name="Text Placeholder 2"/>
          <p:cNvSpPr>
            <a:spLocks noGrp="1"/>
          </p:cNvSpPr>
          <p:nvPr>
            <p:ph type="body" idx="1"/>
          </p:nvPr>
        </p:nvSpPr>
        <p:spPr/>
        <p:txBody>
          <a:bodyPr/>
          <a:lstStyle/>
          <a:p>
            <a:r>
              <a:rPr lang="en-US"/>
              <a:t>Product Managers &amp; Designers</a:t>
            </a:r>
          </a:p>
          <a:p>
            <a:r>
              <a:rPr lang="en-US"/>
              <a:t>Frontend Developers vs. Backend Developers</a:t>
            </a:r>
          </a:p>
          <a:p>
            <a:r>
              <a:rPr lang="en-US"/>
              <a:t>DevOps &amp; Security Operations(SecOps)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3443371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70CCB-1420-42B1-D87F-0B76685F7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C36E3-1BBA-F9BF-B818-CE9C458FDE3E}"/>
              </a:ext>
            </a:extLst>
          </p:cNvPr>
          <p:cNvSpPr>
            <a:spLocks noGrp="1"/>
          </p:cNvSpPr>
          <p:nvPr>
            <p:ph type="title"/>
          </p:nvPr>
        </p:nvSpPr>
        <p:spPr/>
        <p:txBody>
          <a:bodyPr/>
          <a:lstStyle/>
          <a:p>
            <a:r>
              <a:rPr lang="en-US"/>
              <a:t>Essential Software Tools</a:t>
            </a:r>
          </a:p>
        </p:txBody>
      </p:sp>
      <p:sp>
        <p:nvSpPr>
          <p:cNvPr id="3" name="Text Placeholder 2">
            <a:extLst>
              <a:ext uri="{FF2B5EF4-FFF2-40B4-BE49-F238E27FC236}">
                <a16:creationId xmlns:a16="http://schemas.microsoft.com/office/drawing/2014/main" id="{3DB4FAF2-A9F0-DE93-04D5-070F8A465A87}"/>
              </a:ext>
            </a:extLst>
          </p:cNvPr>
          <p:cNvSpPr>
            <a:spLocks noGrp="1"/>
          </p:cNvSpPr>
          <p:nvPr>
            <p:ph type="body" idx="1"/>
          </p:nvPr>
        </p:nvSpPr>
        <p:spPr/>
        <p:txBody>
          <a:bodyPr/>
          <a:lstStyle/>
          <a:p>
            <a:r>
              <a:rPr lang="en-US"/>
              <a:t>Advanced Text Editors(VS Code, </a:t>
            </a:r>
            <a:r>
              <a:rPr lang="en-US" err="1"/>
              <a:t>NeoVim</a:t>
            </a:r>
            <a:r>
              <a:rPr lang="en-US"/>
              <a:t>)</a:t>
            </a:r>
          </a:p>
          <a:p>
            <a:r>
              <a:rPr lang="en-US"/>
              <a:t>Web Browsers &amp; Developer Tools (</a:t>
            </a:r>
            <a:r>
              <a:rPr lang="en-US" err="1"/>
              <a:t>DevTools</a:t>
            </a:r>
            <a:r>
              <a:rPr lang="en-US"/>
              <a:t>)</a:t>
            </a:r>
          </a:p>
          <a:p>
            <a:r>
              <a:rPr lang="en-US"/>
              <a:t>Assets Optimizers &amp; Graphic Software</a:t>
            </a:r>
          </a:p>
          <a:p>
            <a:r>
              <a:rPr lang="en-US"/>
              <a:t>AI based code generation and trouble shooting</a:t>
            </a:r>
          </a:p>
        </p:txBody>
      </p:sp>
      <p:sp>
        <p:nvSpPr>
          <p:cNvPr id="4" name="Slide Number Placeholder 3">
            <a:extLst>
              <a:ext uri="{FF2B5EF4-FFF2-40B4-BE49-F238E27FC236}">
                <a16:creationId xmlns:a16="http://schemas.microsoft.com/office/drawing/2014/main" id="{36C9B1D9-C7DE-0217-2DF8-F85E1C8F83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800001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79E03-A255-A126-D3BF-967E0B8A59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48A45-0FC5-04B0-C04E-9349CDE4F5EF}"/>
              </a:ext>
            </a:extLst>
          </p:cNvPr>
          <p:cNvSpPr>
            <a:spLocks noGrp="1"/>
          </p:cNvSpPr>
          <p:nvPr>
            <p:ph type="title"/>
          </p:nvPr>
        </p:nvSpPr>
        <p:spPr/>
        <p:txBody>
          <a:bodyPr/>
          <a:lstStyle/>
          <a:p>
            <a:r>
              <a:rPr lang="en-US"/>
              <a:t>Version Control &amp; Git Foundation</a:t>
            </a:r>
          </a:p>
        </p:txBody>
      </p:sp>
      <p:sp>
        <p:nvSpPr>
          <p:cNvPr id="3" name="Text Placeholder 2">
            <a:extLst>
              <a:ext uri="{FF2B5EF4-FFF2-40B4-BE49-F238E27FC236}">
                <a16:creationId xmlns:a16="http://schemas.microsoft.com/office/drawing/2014/main" id="{4CA6D301-6B2C-252B-D745-2F3952E97FCD}"/>
              </a:ext>
            </a:extLst>
          </p:cNvPr>
          <p:cNvSpPr>
            <a:spLocks noGrp="1"/>
          </p:cNvSpPr>
          <p:nvPr>
            <p:ph type="body" idx="1"/>
          </p:nvPr>
        </p:nvSpPr>
        <p:spPr>
          <a:xfrm>
            <a:off x="57718" y="1158622"/>
            <a:ext cx="4516072" cy="3172714"/>
          </a:xfrm>
        </p:spPr>
        <p:txBody>
          <a:bodyPr/>
          <a:lstStyle/>
          <a:p>
            <a:r>
              <a:rPr lang="en-US"/>
              <a:t>What is Version Control</a:t>
            </a:r>
          </a:p>
          <a:p>
            <a:r>
              <a:rPr lang="en-US"/>
              <a:t>Tracking Code Line by Line</a:t>
            </a:r>
          </a:p>
          <a:p>
            <a:r>
              <a:rPr lang="en-US"/>
              <a:t>Preventing File Duplication Chaos</a:t>
            </a:r>
          </a:p>
        </p:txBody>
      </p:sp>
      <p:sp>
        <p:nvSpPr>
          <p:cNvPr id="4" name="Slide Number Placeholder 3">
            <a:extLst>
              <a:ext uri="{FF2B5EF4-FFF2-40B4-BE49-F238E27FC236}">
                <a16:creationId xmlns:a16="http://schemas.microsoft.com/office/drawing/2014/main" id="{3A923891-EEDA-9020-5B0D-35A2D85C87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pic>
        <p:nvPicPr>
          <p:cNvPr id="5" name="Picture 4" descr="How to Handle Dropdowns in Selenium (With Code Examples) | by Shweta Chaturvedi | Medium">
            <a:extLst>
              <a:ext uri="{FF2B5EF4-FFF2-40B4-BE49-F238E27FC236}">
                <a16:creationId xmlns:a16="http://schemas.microsoft.com/office/drawing/2014/main" id="{E947890F-22B8-BBF9-D334-DF2DBF91A468}"/>
              </a:ext>
            </a:extLst>
          </p:cNvPr>
          <p:cNvPicPr>
            <a:picLocks noChangeAspect="1"/>
          </p:cNvPicPr>
          <p:nvPr/>
        </p:nvPicPr>
        <p:blipFill>
          <a:blip r:embed="rId3"/>
          <a:stretch>
            <a:fillRect/>
          </a:stretch>
        </p:blipFill>
        <p:spPr>
          <a:xfrm>
            <a:off x="5007430" y="1670165"/>
            <a:ext cx="4098468" cy="1808612"/>
          </a:xfrm>
          <a:prstGeom prst="rect">
            <a:avLst/>
          </a:prstGeom>
        </p:spPr>
      </p:pic>
    </p:spTree>
    <p:extLst>
      <p:ext uri="{BB962C8B-B14F-4D97-AF65-F5344CB8AC3E}">
        <p14:creationId xmlns:p14="http://schemas.microsoft.com/office/powerpoint/2010/main" val="2423638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3DEDC-5A45-552A-0CF0-EB6E85054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1CC57-F725-0841-4E0E-6A8A3CF21483}"/>
              </a:ext>
            </a:extLst>
          </p:cNvPr>
          <p:cNvSpPr>
            <a:spLocks noGrp="1"/>
          </p:cNvSpPr>
          <p:nvPr>
            <p:ph type="title"/>
          </p:nvPr>
        </p:nvSpPr>
        <p:spPr/>
        <p:txBody>
          <a:bodyPr/>
          <a:lstStyle/>
          <a:p>
            <a:r>
              <a:rPr lang="en-US"/>
              <a:t>Remote Collaboration and &amp; Branching </a:t>
            </a:r>
          </a:p>
        </p:txBody>
      </p:sp>
      <p:sp>
        <p:nvSpPr>
          <p:cNvPr id="3" name="Text Placeholder 2">
            <a:extLst>
              <a:ext uri="{FF2B5EF4-FFF2-40B4-BE49-F238E27FC236}">
                <a16:creationId xmlns:a16="http://schemas.microsoft.com/office/drawing/2014/main" id="{B1A30C99-C62F-5385-459F-96C60AC36C4B}"/>
              </a:ext>
            </a:extLst>
          </p:cNvPr>
          <p:cNvSpPr>
            <a:spLocks noGrp="1"/>
          </p:cNvSpPr>
          <p:nvPr>
            <p:ph type="body" idx="1"/>
          </p:nvPr>
        </p:nvSpPr>
        <p:spPr/>
        <p:txBody>
          <a:bodyPr/>
          <a:lstStyle/>
          <a:p>
            <a:r>
              <a:rPr lang="en-US" dirty="0"/>
              <a:t>Isolating Features via Branches</a:t>
            </a:r>
          </a:p>
          <a:p>
            <a:r>
              <a:rPr lang="en-US" dirty="0"/>
              <a:t>Centralized Remotes (GitHub, GitLab, Garrit)</a:t>
            </a:r>
          </a:p>
          <a:p>
            <a:r>
              <a:rPr lang="en-US" dirty="0"/>
              <a:t>`git push &amp; git pull`</a:t>
            </a:r>
          </a:p>
        </p:txBody>
      </p:sp>
      <p:sp>
        <p:nvSpPr>
          <p:cNvPr id="4" name="Slide Number Placeholder 3">
            <a:extLst>
              <a:ext uri="{FF2B5EF4-FFF2-40B4-BE49-F238E27FC236}">
                <a16:creationId xmlns:a16="http://schemas.microsoft.com/office/drawing/2014/main" id="{9BF8403D-3F04-8AEF-E0B0-3B2B9B1D50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1357206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BAB5-40C0-EB2F-3A10-FEE711E77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20798-AE28-A8C1-F055-87C387ACA8BE}"/>
              </a:ext>
            </a:extLst>
          </p:cNvPr>
          <p:cNvSpPr>
            <a:spLocks noGrp="1"/>
          </p:cNvSpPr>
          <p:nvPr>
            <p:ph type="title"/>
          </p:nvPr>
        </p:nvSpPr>
        <p:spPr/>
        <p:txBody>
          <a:bodyPr/>
          <a:lstStyle/>
          <a:p>
            <a:r>
              <a:rPr lang="en-US" dirty="0"/>
              <a:t>Peer Review &amp; Continuous Integration</a:t>
            </a:r>
          </a:p>
        </p:txBody>
      </p:sp>
      <p:sp>
        <p:nvSpPr>
          <p:cNvPr id="3" name="Text Placeholder 2">
            <a:extLst>
              <a:ext uri="{FF2B5EF4-FFF2-40B4-BE49-F238E27FC236}">
                <a16:creationId xmlns:a16="http://schemas.microsoft.com/office/drawing/2014/main" id="{96DA7017-A84E-12DB-F816-09F46240C7CE}"/>
              </a:ext>
            </a:extLst>
          </p:cNvPr>
          <p:cNvSpPr>
            <a:spLocks noGrp="1"/>
          </p:cNvSpPr>
          <p:nvPr>
            <p:ph type="body" idx="1"/>
          </p:nvPr>
        </p:nvSpPr>
        <p:spPr/>
        <p:txBody>
          <a:bodyPr/>
          <a:lstStyle/>
          <a:p>
            <a:r>
              <a:rPr lang="en-US" dirty="0"/>
              <a:t>Pull Requests / Patch Sets</a:t>
            </a:r>
          </a:p>
          <a:p>
            <a:r>
              <a:rPr lang="en-US" dirty="0"/>
              <a:t>Code Review and Verification Testing</a:t>
            </a:r>
          </a:p>
          <a:p>
            <a:r>
              <a:rPr lang="en-US" dirty="0"/>
              <a:t>Merging Code Safely into Production</a:t>
            </a:r>
          </a:p>
          <a:p>
            <a:pPr marL="76200" indent="0">
              <a:buNone/>
            </a:pPr>
            <a:endParaRPr lang="en-US" dirty="0"/>
          </a:p>
        </p:txBody>
      </p:sp>
      <p:sp>
        <p:nvSpPr>
          <p:cNvPr id="4" name="Slide Number Placeholder 3">
            <a:extLst>
              <a:ext uri="{FF2B5EF4-FFF2-40B4-BE49-F238E27FC236}">
                <a16:creationId xmlns:a16="http://schemas.microsoft.com/office/drawing/2014/main" id="{B9D79ABE-1F23-76D6-E3C7-A4C207E0F5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2806467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5B813-ED20-DFB5-37A1-1BAFF093E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397A0-2F93-433A-1B96-3FA6C41DCE61}"/>
              </a:ext>
            </a:extLst>
          </p:cNvPr>
          <p:cNvSpPr>
            <a:spLocks noGrp="1"/>
          </p:cNvSpPr>
          <p:nvPr>
            <p:ph type="title"/>
          </p:nvPr>
        </p:nvSpPr>
        <p:spPr/>
        <p:txBody>
          <a:bodyPr/>
          <a:lstStyle/>
          <a:p>
            <a:r>
              <a:rPr lang="en-US" dirty="0"/>
              <a:t>Code Deployment Mechanics</a:t>
            </a:r>
          </a:p>
        </p:txBody>
      </p:sp>
      <p:sp>
        <p:nvSpPr>
          <p:cNvPr id="3" name="Text Placeholder 2">
            <a:extLst>
              <a:ext uri="{FF2B5EF4-FFF2-40B4-BE49-F238E27FC236}">
                <a16:creationId xmlns:a16="http://schemas.microsoft.com/office/drawing/2014/main" id="{0BAF17FF-44F4-8CE4-26D9-712C06C24F73}"/>
              </a:ext>
            </a:extLst>
          </p:cNvPr>
          <p:cNvSpPr>
            <a:spLocks noGrp="1"/>
          </p:cNvSpPr>
          <p:nvPr>
            <p:ph type="body" idx="1"/>
          </p:nvPr>
        </p:nvSpPr>
        <p:spPr/>
        <p:txBody>
          <a:bodyPr/>
          <a:lstStyle/>
          <a:p>
            <a:r>
              <a:rPr lang="en-US" dirty="0"/>
              <a:t>Moving Code to Web Hosting Infrastructure</a:t>
            </a:r>
          </a:p>
          <a:p>
            <a:r>
              <a:rPr lang="en-US" dirty="0"/>
              <a:t>Production-Ready Environment</a:t>
            </a:r>
          </a:p>
          <a:p>
            <a:r>
              <a:rPr lang="en-US" dirty="0"/>
              <a:t>Secure Storage Containers</a:t>
            </a:r>
          </a:p>
        </p:txBody>
      </p:sp>
      <p:sp>
        <p:nvSpPr>
          <p:cNvPr id="4" name="Slide Number Placeholder 3">
            <a:extLst>
              <a:ext uri="{FF2B5EF4-FFF2-40B4-BE49-F238E27FC236}">
                <a16:creationId xmlns:a16="http://schemas.microsoft.com/office/drawing/2014/main" id="{468E7870-D1E5-6D30-AB92-62979AEC74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extLst>
      <p:ext uri="{BB962C8B-B14F-4D97-AF65-F5344CB8AC3E}">
        <p14:creationId xmlns:p14="http://schemas.microsoft.com/office/powerpoint/2010/main" val="1968964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83CC5-0B3A-274E-2EB2-5ED8A3E0E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503D4-B87A-754C-BB2C-11A6822C0615}"/>
              </a:ext>
            </a:extLst>
          </p:cNvPr>
          <p:cNvSpPr>
            <a:spLocks noGrp="1"/>
          </p:cNvSpPr>
          <p:nvPr>
            <p:ph type="title"/>
          </p:nvPr>
        </p:nvSpPr>
        <p:spPr/>
        <p:txBody>
          <a:bodyPr/>
          <a:lstStyle/>
          <a:p>
            <a:r>
              <a:rPr lang="en-US" dirty="0"/>
              <a:t>Introduction to Web Architecture</a:t>
            </a:r>
          </a:p>
        </p:txBody>
      </p:sp>
      <p:sp>
        <p:nvSpPr>
          <p:cNvPr id="3" name="Text Placeholder 2">
            <a:extLst>
              <a:ext uri="{FF2B5EF4-FFF2-40B4-BE49-F238E27FC236}">
                <a16:creationId xmlns:a16="http://schemas.microsoft.com/office/drawing/2014/main" id="{ECA917CF-8D4D-C502-23CD-8B5A0652BDC0}"/>
              </a:ext>
            </a:extLst>
          </p:cNvPr>
          <p:cNvSpPr>
            <a:spLocks noGrp="1"/>
          </p:cNvSpPr>
          <p:nvPr>
            <p:ph type="body" idx="1"/>
          </p:nvPr>
        </p:nvSpPr>
        <p:spPr/>
        <p:txBody>
          <a:bodyPr/>
          <a:lstStyle/>
          <a:p>
            <a:r>
              <a:rPr lang="en-US" dirty="0"/>
              <a:t>The Client-Server Blueprint</a:t>
            </a:r>
          </a:p>
          <a:p>
            <a:r>
              <a:rPr lang="en-US" dirty="0"/>
              <a:t>Decoupling Presentation from Storage</a:t>
            </a:r>
          </a:p>
          <a:p>
            <a:r>
              <a:rPr lang="en-US" dirty="0"/>
              <a:t>Requests and Response Lifecycles</a:t>
            </a:r>
          </a:p>
        </p:txBody>
      </p:sp>
      <p:sp>
        <p:nvSpPr>
          <p:cNvPr id="4" name="Slide Number Placeholder 3">
            <a:extLst>
              <a:ext uri="{FF2B5EF4-FFF2-40B4-BE49-F238E27FC236}">
                <a16:creationId xmlns:a16="http://schemas.microsoft.com/office/drawing/2014/main" id="{7F779C7F-0515-66E2-1EB0-4A654DD3D9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2090856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C0794-D464-9C78-E6B3-9DA5AC4BA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8CABB-A04D-F2B7-DD60-5F8DDFB44EED}"/>
              </a:ext>
            </a:extLst>
          </p:cNvPr>
          <p:cNvSpPr>
            <a:spLocks noGrp="1"/>
          </p:cNvSpPr>
          <p:nvPr>
            <p:ph type="title"/>
          </p:nvPr>
        </p:nvSpPr>
        <p:spPr/>
        <p:txBody>
          <a:bodyPr/>
          <a:lstStyle/>
          <a:p>
            <a:r>
              <a:rPr lang="en-US" dirty="0"/>
              <a:t>The Client: Browser as Interpreters</a:t>
            </a:r>
          </a:p>
        </p:txBody>
      </p:sp>
      <p:sp>
        <p:nvSpPr>
          <p:cNvPr id="3" name="Text Placeholder 2">
            <a:extLst>
              <a:ext uri="{FF2B5EF4-FFF2-40B4-BE49-F238E27FC236}">
                <a16:creationId xmlns:a16="http://schemas.microsoft.com/office/drawing/2014/main" id="{84753EA7-5BCC-9136-79F9-B5587A975E79}"/>
              </a:ext>
            </a:extLst>
          </p:cNvPr>
          <p:cNvSpPr>
            <a:spLocks noGrp="1"/>
          </p:cNvSpPr>
          <p:nvPr>
            <p:ph type="body" idx="1"/>
          </p:nvPr>
        </p:nvSpPr>
        <p:spPr/>
        <p:txBody>
          <a:bodyPr/>
          <a:lstStyle/>
          <a:p>
            <a:r>
              <a:rPr lang="en-US" dirty="0"/>
              <a:t>What is a Client? (Chrome, Firefox, Safari)</a:t>
            </a:r>
          </a:p>
          <a:p>
            <a:r>
              <a:rPr lang="en-US" dirty="0"/>
              <a:t>Parsing Languages: HTML, CSS, JavaScript</a:t>
            </a:r>
          </a:p>
          <a:p>
            <a:r>
              <a:rPr lang="en-US" dirty="0"/>
              <a:t>Rendering Engine</a:t>
            </a:r>
          </a:p>
        </p:txBody>
      </p:sp>
      <p:sp>
        <p:nvSpPr>
          <p:cNvPr id="4" name="Slide Number Placeholder 3">
            <a:extLst>
              <a:ext uri="{FF2B5EF4-FFF2-40B4-BE49-F238E27FC236}">
                <a16:creationId xmlns:a16="http://schemas.microsoft.com/office/drawing/2014/main" id="{64CC1804-A3D8-904B-C9A9-D1F6D06949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3197095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47834-DA6A-0575-1169-4107A4593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FD337-4AAC-2691-B849-3DF07B44194A}"/>
              </a:ext>
            </a:extLst>
          </p:cNvPr>
          <p:cNvSpPr>
            <a:spLocks noGrp="1"/>
          </p:cNvSpPr>
          <p:nvPr>
            <p:ph type="title"/>
          </p:nvPr>
        </p:nvSpPr>
        <p:spPr/>
        <p:txBody>
          <a:bodyPr/>
          <a:lstStyle/>
          <a:p>
            <a:r>
              <a:rPr lang="en-US" dirty="0"/>
              <a:t>The Server: Data Guardians</a:t>
            </a:r>
          </a:p>
        </p:txBody>
      </p:sp>
      <p:sp>
        <p:nvSpPr>
          <p:cNvPr id="3" name="Text Placeholder 2">
            <a:extLst>
              <a:ext uri="{FF2B5EF4-FFF2-40B4-BE49-F238E27FC236}">
                <a16:creationId xmlns:a16="http://schemas.microsoft.com/office/drawing/2014/main" id="{9235C816-71C9-E117-2D48-71F2F61E0C50}"/>
              </a:ext>
            </a:extLst>
          </p:cNvPr>
          <p:cNvSpPr>
            <a:spLocks noGrp="1"/>
          </p:cNvSpPr>
          <p:nvPr>
            <p:ph type="body" idx="1"/>
          </p:nvPr>
        </p:nvSpPr>
        <p:spPr/>
        <p:txBody>
          <a:bodyPr/>
          <a:lstStyle/>
          <a:p>
            <a:r>
              <a:rPr lang="en-US" dirty="0"/>
              <a:t>High-Availability Hardware Racks</a:t>
            </a:r>
          </a:p>
          <a:p>
            <a:r>
              <a:rPr lang="en-US" dirty="0"/>
              <a:t>Listening for Network Traffic</a:t>
            </a:r>
          </a:p>
          <a:p>
            <a:r>
              <a:rPr lang="en-US" dirty="0"/>
              <a:t>Serving Static Assets and Dynamic Data</a:t>
            </a:r>
          </a:p>
        </p:txBody>
      </p:sp>
      <p:sp>
        <p:nvSpPr>
          <p:cNvPr id="4" name="Slide Number Placeholder 3">
            <a:extLst>
              <a:ext uri="{FF2B5EF4-FFF2-40B4-BE49-F238E27FC236}">
                <a16:creationId xmlns:a16="http://schemas.microsoft.com/office/drawing/2014/main" id="{480C01F6-ACED-8235-C422-E7D9178D93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2491615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1CE3B-4F48-72D6-C51D-DDDB65C99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FE9F3-B56F-3597-2D1B-99531BC46086}"/>
              </a:ext>
            </a:extLst>
          </p:cNvPr>
          <p:cNvSpPr>
            <a:spLocks noGrp="1"/>
          </p:cNvSpPr>
          <p:nvPr>
            <p:ph type="title"/>
          </p:nvPr>
        </p:nvSpPr>
        <p:spPr/>
        <p:txBody>
          <a:bodyPr/>
          <a:lstStyle/>
          <a:p>
            <a:r>
              <a:rPr lang="en-US" dirty="0"/>
              <a:t>Demystifying the URL</a:t>
            </a:r>
          </a:p>
        </p:txBody>
      </p:sp>
      <p:sp>
        <p:nvSpPr>
          <p:cNvPr id="3" name="Text Placeholder 2">
            <a:extLst>
              <a:ext uri="{FF2B5EF4-FFF2-40B4-BE49-F238E27FC236}">
                <a16:creationId xmlns:a16="http://schemas.microsoft.com/office/drawing/2014/main" id="{CB7B9FCC-3769-5D39-56C9-ACF6DDD45F0B}"/>
              </a:ext>
            </a:extLst>
          </p:cNvPr>
          <p:cNvSpPr>
            <a:spLocks noGrp="1"/>
          </p:cNvSpPr>
          <p:nvPr>
            <p:ph type="body" idx="1"/>
          </p:nvPr>
        </p:nvSpPr>
        <p:spPr/>
        <p:txBody>
          <a:bodyPr/>
          <a:lstStyle/>
          <a:p>
            <a:r>
              <a:rPr lang="en-US" dirty="0"/>
              <a:t>Uniform Resource Locator Structure</a:t>
            </a:r>
          </a:p>
          <a:p>
            <a:r>
              <a:rPr lang="en-US" dirty="0"/>
              <a:t>Protocol (http://, https://)</a:t>
            </a:r>
          </a:p>
          <a:p>
            <a:r>
              <a:rPr lang="en-US" dirty="0"/>
              <a:t>Domain Name (example.com)</a:t>
            </a:r>
          </a:p>
        </p:txBody>
      </p:sp>
      <p:sp>
        <p:nvSpPr>
          <p:cNvPr id="4" name="Slide Number Placeholder 3">
            <a:extLst>
              <a:ext uri="{FF2B5EF4-FFF2-40B4-BE49-F238E27FC236}">
                <a16:creationId xmlns:a16="http://schemas.microsoft.com/office/drawing/2014/main" id="{ACA75F16-7A81-7795-58AC-EED8F25A61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4268929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0715C-FCDE-4EDE-969B-9BBAC09F8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CC6C9-560F-58F9-6460-BDB4CE898EAD}"/>
              </a:ext>
            </a:extLst>
          </p:cNvPr>
          <p:cNvSpPr>
            <a:spLocks noGrp="1"/>
          </p:cNvSpPr>
          <p:nvPr>
            <p:ph type="title"/>
          </p:nvPr>
        </p:nvSpPr>
        <p:spPr/>
        <p:txBody>
          <a:bodyPr/>
          <a:lstStyle/>
          <a:p>
            <a:r>
              <a:rPr lang="en-US" dirty="0"/>
              <a:t>DNS: The Internet’s Phonebook</a:t>
            </a:r>
          </a:p>
        </p:txBody>
      </p:sp>
      <p:sp>
        <p:nvSpPr>
          <p:cNvPr id="3" name="Text Placeholder 2">
            <a:extLst>
              <a:ext uri="{FF2B5EF4-FFF2-40B4-BE49-F238E27FC236}">
                <a16:creationId xmlns:a16="http://schemas.microsoft.com/office/drawing/2014/main" id="{9285F6BA-975F-AC7C-3AA9-868C2D1A8063}"/>
              </a:ext>
            </a:extLst>
          </p:cNvPr>
          <p:cNvSpPr>
            <a:spLocks noGrp="1"/>
          </p:cNvSpPr>
          <p:nvPr>
            <p:ph type="body" idx="1"/>
          </p:nvPr>
        </p:nvSpPr>
        <p:spPr/>
        <p:txBody>
          <a:bodyPr/>
          <a:lstStyle/>
          <a:p>
            <a:r>
              <a:rPr lang="en-US" dirty="0"/>
              <a:t>Domain Name System Translation</a:t>
            </a:r>
          </a:p>
          <a:p>
            <a:r>
              <a:rPr lang="en-US" dirty="0"/>
              <a:t>Mapping Names to IP Addresses</a:t>
            </a:r>
          </a:p>
          <a:p>
            <a:r>
              <a:rPr lang="en-US" dirty="0"/>
              <a:t>Global Server Lookups</a:t>
            </a:r>
          </a:p>
        </p:txBody>
      </p:sp>
      <p:sp>
        <p:nvSpPr>
          <p:cNvPr id="4" name="Slide Number Placeholder 3">
            <a:extLst>
              <a:ext uri="{FF2B5EF4-FFF2-40B4-BE49-F238E27FC236}">
                <a16:creationId xmlns:a16="http://schemas.microsoft.com/office/drawing/2014/main" id="{1384A3D6-5276-9D25-67E3-5D03B58D04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extLst>
      <p:ext uri="{BB962C8B-B14F-4D97-AF65-F5344CB8AC3E}">
        <p14:creationId xmlns:p14="http://schemas.microsoft.com/office/powerpoint/2010/main" val="4279015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F6958-F451-DA1B-6182-C8A561BD0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18AD1-81C1-0637-75CF-538356A1CDF2}"/>
              </a:ext>
            </a:extLst>
          </p:cNvPr>
          <p:cNvSpPr>
            <a:spLocks noGrp="1"/>
          </p:cNvSpPr>
          <p:nvPr>
            <p:ph type="title"/>
          </p:nvPr>
        </p:nvSpPr>
        <p:spPr>
          <a:xfrm>
            <a:off x="0" y="392575"/>
            <a:ext cx="6946875" cy="774469"/>
          </a:xfrm>
        </p:spPr>
        <p:txBody>
          <a:bodyPr/>
          <a:lstStyle/>
          <a:p>
            <a:r>
              <a:rPr lang="en-US" dirty="0"/>
              <a:t>Hurricane Electric Network Map</a:t>
            </a:r>
          </a:p>
        </p:txBody>
      </p:sp>
      <p:sp>
        <p:nvSpPr>
          <p:cNvPr id="3" name="Text Placeholder 2">
            <a:extLst>
              <a:ext uri="{FF2B5EF4-FFF2-40B4-BE49-F238E27FC236}">
                <a16:creationId xmlns:a16="http://schemas.microsoft.com/office/drawing/2014/main" id="{4F140FB9-80F4-639A-521A-6D338421C41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9F55B46-6839-0956-8AB7-77381FDB25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6" name="Picture 5">
            <a:extLst>
              <a:ext uri="{FF2B5EF4-FFF2-40B4-BE49-F238E27FC236}">
                <a16:creationId xmlns:a16="http://schemas.microsoft.com/office/drawing/2014/main" id="{705FEA01-CB4A-E343-5916-DB70EC191CB4}"/>
              </a:ext>
            </a:extLst>
          </p:cNvPr>
          <p:cNvPicPr>
            <a:picLocks noChangeAspect="1"/>
          </p:cNvPicPr>
          <p:nvPr/>
        </p:nvPicPr>
        <p:blipFill>
          <a:blip r:embed="rId2"/>
          <a:stretch>
            <a:fillRect/>
          </a:stretch>
        </p:blipFill>
        <p:spPr>
          <a:xfrm>
            <a:off x="-38600" y="1167044"/>
            <a:ext cx="9144000" cy="3785056"/>
          </a:xfrm>
          <a:prstGeom prst="rect">
            <a:avLst/>
          </a:prstGeom>
        </p:spPr>
      </p:pic>
    </p:spTree>
    <p:extLst>
      <p:ext uri="{BB962C8B-B14F-4D97-AF65-F5344CB8AC3E}">
        <p14:creationId xmlns:p14="http://schemas.microsoft.com/office/powerpoint/2010/main" val="1595903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274AB-0516-4E87-D9B9-0337DDAA1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B47EB-DEE8-947A-8661-052B7F945C0D}"/>
              </a:ext>
            </a:extLst>
          </p:cNvPr>
          <p:cNvSpPr>
            <a:spLocks noGrp="1"/>
          </p:cNvSpPr>
          <p:nvPr>
            <p:ph type="title"/>
          </p:nvPr>
        </p:nvSpPr>
        <p:spPr>
          <a:xfrm>
            <a:off x="814274" y="392575"/>
            <a:ext cx="5781597" cy="766200"/>
          </a:xfrm>
        </p:spPr>
        <p:txBody>
          <a:bodyPr/>
          <a:lstStyle/>
          <a:p>
            <a:r>
              <a:rPr lang="en-US" dirty="0"/>
              <a:t>Anatomy of an HTTP Request</a:t>
            </a:r>
          </a:p>
        </p:txBody>
      </p:sp>
      <p:sp>
        <p:nvSpPr>
          <p:cNvPr id="3" name="Text Placeholder 2">
            <a:extLst>
              <a:ext uri="{FF2B5EF4-FFF2-40B4-BE49-F238E27FC236}">
                <a16:creationId xmlns:a16="http://schemas.microsoft.com/office/drawing/2014/main" id="{194BC427-0965-1558-F138-E271AF35A82C}"/>
              </a:ext>
            </a:extLst>
          </p:cNvPr>
          <p:cNvSpPr>
            <a:spLocks noGrp="1"/>
          </p:cNvSpPr>
          <p:nvPr>
            <p:ph type="body" idx="1"/>
          </p:nvPr>
        </p:nvSpPr>
        <p:spPr/>
        <p:txBody>
          <a:bodyPr/>
          <a:lstStyle/>
          <a:p>
            <a:r>
              <a:rPr lang="en-US" dirty="0"/>
              <a:t>HTTP Methods (GET, POST, PUT, DELETE)</a:t>
            </a:r>
          </a:p>
          <a:p>
            <a:r>
              <a:rPr lang="en-US" dirty="0"/>
              <a:t>Request Headers &amp; Metadata</a:t>
            </a:r>
          </a:p>
          <a:p>
            <a:r>
              <a:rPr lang="en-US" dirty="0"/>
              <a:t>Transmitting the Payload</a:t>
            </a:r>
          </a:p>
        </p:txBody>
      </p:sp>
      <p:sp>
        <p:nvSpPr>
          <p:cNvPr id="4" name="Slide Number Placeholder 3">
            <a:extLst>
              <a:ext uri="{FF2B5EF4-FFF2-40B4-BE49-F238E27FC236}">
                <a16:creationId xmlns:a16="http://schemas.microsoft.com/office/drawing/2014/main" id="{96A6C70F-62EA-47E7-643C-2150A3F338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3816978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57259-690B-C733-2E7D-5989940FC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9B61B-1B25-0433-12F0-8402E7212F9A}"/>
              </a:ext>
            </a:extLst>
          </p:cNvPr>
          <p:cNvSpPr>
            <a:spLocks noGrp="1"/>
          </p:cNvSpPr>
          <p:nvPr>
            <p:ph type="title"/>
          </p:nvPr>
        </p:nvSpPr>
        <p:spPr>
          <a:xfrm>
            <a:off x="329184" y="392575"/>
            <a:ext cx="5977491" cy="766200"/>
          </a:xfrm>
        </p:spPr>
        <p:txBody>
          <a:bodyPr/>
          <a:lstStyle/>
          <a:p>
            <a:r>
              <a:rPr lang="en-US" dirty="0"/>
              <a:t>Anatomy of an HTTP Response</a:t>
            </a:r>
          </a:p>
        </p:txBody>
      </p:sp>
      <p:sp>
        <p:nvSpPr>
          <p:cNvPr id="3" name="Text Placeholder 2">
            <a:extLst>
              <a:ext uri="{FF2B5EF4-FFF2-40B4-BE49-F238E27FC236}">
                <a16:creationId xmlns:a16="http://schemas.microsoft.com/office/drawing/2014/main" id="{E358B977-CAD4-ED83-F50C-7606D9D0E297}"/>
              </a:ext>
            </a:extLst>
          </p:cNvPr>
          <p:cNvSpPr>
            <a:spLocks noGrp="1"/>
          </p:cNvSpPr>
          <p:nvPr>
            <p:ph type="body" idx="1"/>
          </p:nvPr>
        </p:nvSpPr>
        <p:spPr/>
        <p:txBody>
          <a:bodyPr/>
          <a:lstStyle/>
          <a:p>
            <a:r>
              <a:rPr lang="en-US" dirty="0"/>
              <a:t>Server HTTP Status Codes</a:t>
            </a:r>
          </a:p>
          <a:p>
            <a:r>
              <a:rPr lang="en-US" dirty="0"/>
              <a:t>Success (</a:t>
            </a:r>
            <a:r>
              <a:rPr lang="en-US" dirty="0">
                <a:solidFill>
                  <a:srgbClr val="00B050"/>
                </a:solidFill>
              </a:rPr>
              <a:t>200 OK </a:t>
            </a:r>
            <a:r>
              <a:rPr lang="en-US" dirty="0"/>
              <a:t>) vs Client Error (</a:t>
            </a:r>
            <a:r>
              <a:rPr lang="en-US" dirty="0">
                <a:solidFill>
                  <a:srgbClr val="C00000"/>
                </a:solidFill>
              </a:rPr>
              <a:t>404 Not Found</a:t>
            </a:r>
            <a:r>
              <a:rPr lang="en-US" dirty="0">
                <a:solidFill>
                  <a:schemeClr val="tx1"/>
                </a:solidFill>
              </a:rPr>
              <a:t>)</a:t>
            </a:r>
          </a:p>
          <a:p>
            <a:r>
              <a:rPr lang="en-US" dirty="0">
                <a:solidFill>
                  <a:schemeClr val="tx1"/>
                </a:solidFill>
              </a:rPr>
              <a:t>Server Failure (</a:t>
            </a:r>
            <a:r>
              <a:rPr lang="en-US" dirty="0">
                <a:solidFill>
                  <a:srgbClr val="C00000"/>
                </a:solidFill>
              </a:rPr>
              <a:t>500 Internal Server Error</a:t>
            </a:r>
            <a:r>
              <a:rPr lang="en-US" dirty="0">
                <a:solidFill>
                  <a:schemeClr val="tx1"/>
                </a:solidFill>
              </a:rPr>
              <a:t>)</a:t>
            </a:r>
            <a:endParaRPr lang="en-US" dirty="0">
              <a:solidFill>
                <a:srgbClr val="C00000"/>
              </a:solidFill>
            </a:endParaRPr>
          </a:p>
          <a:p>
            <a:endParaRPr lang="en-US" dirty="0"/>
          </a:p>
        </p:txBody>
      </p:sp>
      <p:sp>
        <p:nvSpPr>
          <p:cNvPr id="4" name="Slide Number Placeholder 3">
            <a:extLst>
              <a:ext uri="{FF2B5EF4-FFF2-40B4-BE49-F238E27FC236}">
                <a16:creationId xmlns:a16="http://schemas.microsoft.com/office/drawing/2014/main" id="{F9A602F7-C8FF-7DE1-2B7F-E988B241DE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3567049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6E240-70FE-9581-4DBD-72E2D91247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A7FBF-86C9-02EA-7DFA-F3633DEE2FE2}"/>
              </a:ext>
            </a:extLst>
          </p:cNvPr>
          <p:cNvSpPr>
            <a:spLocks noGrp="1"/>
          </p:cNvSpPr>
          <p:nvPr>
            <p:ph type="title"/>
          </p:nvPr>
        </p:nvSpPr>
        <p:spPr>
          <a:xfrm>
            <a:off x="353568" y="392575"/>
            <a:ext cx="6254495" cy="766200"/>
          </a:xfrm>
        </p:spPr>
        <p:txBody>
          <a:bodyPr/>
          <a:lstStyle/>
          <a:p>
            <a:r>
              <a:rPr lang="en-US" dirty="0"/>
              <a:t>Bandwidth and Network Latency</a:t>
            </a:r>
          </a:p>
        </p:txBody>
      </p:sp>
      <p:sp>
        <p:nvSpPr>
          <p:cNvPr id="3" name="Text Placeholder 2">
            <a:extLst>
              <a:ext uri="{FF2B5EF4-FFF2-40B4-BE49-F238E27FC236}">
                <a16:creationId xmlns:a16="http://schemas.microsoft.com/office/drawing/2014/main" id="{42098EE0-C96B-19B4-710B-82942F4F9715}"/>
              </a:ext>
            </a:extLst>
          </p:cNvPr>
          <p:cNvSpPr>
            <a:spLocks noGrp="1"/>
          </p:cNvSpPr>
          <p:nvPr>
            <p:ph type="body" idx="1"/>
          </p:nvPr>
        </p:nvSpPr>
        <p:spPr/>
        <p:txBody>
          <a:bodyPr/>
          <a:lstStyle/>
          <a:p>
            <a:r>
              <a:rPr lang="en-US" dirty="0"/>
              <a:t>How File Size Impacts Performance</a:t>
            </a:r>
          </a:p>
          <a:p>
            <a:r>
              <a:rPr lang="en-US" dirty="0"/>
              <a:t>Network Packets and Travel Time</a:t>
            </a:r>
          </a:p>
          <a:p>
            <a:r>
              <a:rPr lang="en-US" dirty="0"/>
              <a:t>The Importance of Technical Asset Optimization</a:t>
            </a:r>
          </a:p>
        </p:txBody>
      </p:sp>
      <p:sp>
        <p:nvSpPr>
          <p:cNvPr id="4" name="Slide Number Placeholder 3">
            <a:extLst>
              <a:ext uri="{FF2B5EF4-FFF2-40B4-BE49-F238E27FC236}">
                <a16:creationId xmlns:a16="http://schemas.microsoft.com/office/drawing/2014/main" id="{1413BE71-2D1D-4811-7A72-AF65C91954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3207600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41C77-EFFD-68EE-76A5-69C9F71A3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008C5-B6E6-B5C3-2684-A941D94BF9B4}"/>
              </a:ext>
            </a:extLst>
          </p:cNvPr>
          <p:cNvSpPr>
            <a:spLocks noGrp="1"/>
          </p:cNvSpPr>
          <p:nvPr>
            <p:ph type="title"/>
          </p:nvPr>
        </p:nvSpPr>
        <p:spPr>
          <a:xfrm>
            <a:off x="353568" y="392575"/>
            <a:ext cx="6254495" cy="766200"/>
          </a:xfrm>
        </p:spPr>
        <p:txBody>
          <a:bodyPr/>
          <a:lstStyle/>
          <a:p>
            <a:r>
              <a:rPr lang="en-US" dirty="0"/>
              <a:t>Cloud Infrastructure and Edge Hosting</a:t>
            </a:r>
          </a:p>
        </p:txBody>
      </p:sp>
      <p:sp>
        <p:nvSpPr>
          <p:cNvPr id="3" name="Text Placeholder 2">
            <a:extLst>
              <a:ext uri="{FF2B5EF4-FFF2-40B4-BE49-F238E27FC236}">
                <a16:creationId xmlns:a16="http://schemas.microsoft.com/office/drawing/2014/main" id="{B17BEB8C-F87D-6E7E-05F4-98A1BB015C1C}"/>
              </a:ext>
            </a:extLst>
          </p:cNvPr>
          <p:cNvSpPr>
            <a:spLocks noGrp="1"/>
          </p:cNvSpPr>
          <p:nvPr>
            <p:ph type="body" idx="1"/>
          </p:nvPr>
        </p:nvSpPr>
        <p:spPr/>
        <p:txBody>
          <a:bodyPr/>
          <a:lstStyle/>
          <a:p>
            <a:r>
              <a:rPr lang="en-US" dirty="0"/>
              <a:t>Distributed Computing Networks</a:t>
            </a:r>
          </a:p>
          <a:p>
            <a:r>
              <a:rPr lang="en-US" dirty="0"/>
              <a:t>Content Delivery Networks (CDNs)</a:t>
            </a:r>
          </a:p>
          <a:p>
            <a:r>
              <a:rPr lang="en-US" dirty="0"/>
              <a:t>Moving Storage Closer to the User</a:t>
            </a:r>
          </a:p>
        </p:txBody>
      </p:sp>
      <p:sp>
        <p:nvSpPr>
          <p:cNvPr id="4" name="Slide Number Placeholder 3">
            <a:extLst>
              <a:ext uri="{FF2B5EF4-FFF2-40B4-BE49-F238E27FC236}">
                <a16:creationId xmlns:a16="http://schemas.microsoft.com/office/drawing/2014/main" id="{2D020FA1-50E2-6EF3-DEDD-70EC07754F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43638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5DABC-FDFB-5981-3F40-53D71E113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8F5072-6840-6739-9F44-FBCE866C6D4D}"/>
              </a:ext>
            </a:extLst>
          </p:cNvPr>
          <p:cNvSpPr>
            <a:spLocks noGrp="1"/>
          </p:cNvSpPr>
          <p:nvPr>
            <p:ph type="title"/>
          </p:nvPr>
        </p:nvSpPr>
        <p:spPr>
          <a:xfrm>
            <a:off x="353568" y="392575"/>
            <a:ext cx="6254495" cy="766200"/>
          </a:xfrm>
        </p:spPr>
        <p:txBody>
          <a:bodyPr/>
          <a:lstStyle/>
          <a:p>
            <a:r>
              <a:rPr lang="en-US" dirty="0"/>
              <a:t>Core Web Design Philosophies</a:t>
            </a:r>
          </a:p>
        </p:txBody>
      </p:sp>
      <p:sp>
        <p:nvSpPr>
          <p:cNvPr id="3" name="Text Placeholder 2">
            <a:extLst>
              <a:ext uri="{FF2B5EF4-FFF2-40B4-BE49-F238E27FC236}">
                <a16:creationId xmlns:a16="http://schemas.microsoft.com/office/drawing/2014/main" id="{45C7520C-EBE7-49BE-608C-EDC158C5CCC7}"/>
              </a:ext>
            </a:extLst>
          </p:cNvPr>
          <p:cNvSpPr>
            <a:spLocks noGrp="1"/>
          </p:cNvSpPr>
          <p:nvPr>
            <p:ph type="body" idx="1"/>
          </p:nvPr>
        </p:nvSpPr>
        <p:spPr/>
        <p:txBody>
          <a:bodyPr/>
          <a:lstStyle/>
          <a:p>
            <a:r>
              <a:rPr lang="en-US" dirty="0"/>
              <a:t>The Separation of Concerns</a:t>
            </a:r>
          </a:p>
          <a:p>
            <a:r>
              <a:rPr lang="en-US" dirty="0"/>
              <a:t> Progressive Enhancement</a:t>
            </a:r>
          </a:p>
          <a:p>
            <a:r>
              <a:rPr lang="en-US" dirty="0"/>
              <a:t>Cross-Browser Compatibility Expectations</a:t>
            </a:r>
          </a:p>
        </p:txBody>
      </p:sp>
      <p:sp>
        <p:nvSpPr>
          <p:cNvPr id="4" name="Slide Number Placeholder 3">
            <a:extLst>
              <a:ext uri="{FF2B5EF4-FFF2-40B4-BE49-F238E27FC236}">
                <a16:creationId xmlns:a16="http://schemas.microsoft.com/office/drawing/2014/main" id="{3BF6186F-E9D6-436E-C180-192B7FFB2D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2582708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B71CB-09AA-36D8-95A3-A555E3F3B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F00F3-B097-9E0A-E388-8E14F9E13984}"/>
              </a:ext>
            </a:extLst>
          </p:cNvPr>
          <p:cNvSpPr>
            <a:spLocks noGrp="1"/>
          </p:cNvSpPr>
          <p:nvPr>
            <p:ph type="title"/>
          </p:nvPr>
        </p:nvSpPr>
        <p:spPr>
          <a:xfrm>
            <a:off x="353568" y="392575"/>
            <a:ext cx="6254495" cy="766200"/>
          </a:xfrm>
        </p:spPr>
        <p:txBody>
          <a:bodyPr/>
          <a:lstStyle/>
          <a:p>
            <a:r>
              <a:rPr lang="en-US" dirty="0"/>
              <a:t>Progressive Enhancement</a:t>
            </a:r>
          </a:p>
        </p:txBody>
      </p:sp>
      <p:sp>
        <p:nvSpPr>
          <p:cNvPr id="3" name="Text Placeholder 2">
            <a:extLst>
              <a:ext uri="{FF2B5EF4-FFF2-40B4-BE49-F238E27FC236}">
                <a16:creationId xmlns:a16="http://schemas.microsoft.com/office/drawing/2014/main" id="{30F21BAE-F53B-AD08-90D4-4A3C3D7EDF25}"/>
              </a:ext>
            </a:extLst>
          </p:cNvPr>
          <p:cNvSpPr>
            <a:spLocks noGrp="1"/>
          </p:cNvSpPr>
          <p:nvPr>
            <p:ph type="body" idx="1"/>
          </p:nvPr>
        </p:nvSpPr>
        <p:spPr/>
        <p:txBody>
          <a:bodyPr/>
          <a:lstStyle/>
          <a:p>
            <a:r>
              <a:rPr lang="en-US" dirty="0"/>
              <a:t>Content First, Accents Second</a:t>
            </a:r>
          </a:p>
          <a:p>
            <a:r>
              <a:rPr lang="en-US" dirty="0"/>
              <a:t>Graceful Degradation Strategies</a:t>
            </a:r>
          </a:p>
          <a:p>
            <a:r>
              <a:rPr lang="en-US" dirty="0"/>
              <a:t>Accessibility for All Devices Tiers</a:t>
            </a:r>
          </a:p>
        </p:txBody>
      </p:sp>
      <p:sp>
        <p:nvSpPr>
          <p:cNvPr id="4" name="Slide Number Placeholder 3">
            <a:extLst>
              <a:ext uri="{FF2B5EF4-FFF2-40B4-BE49-F238E27FC236}">
                <a16:creationId xmlns:a16="http://schemas.microsoft.com/office/drawing/2014/main" id="{F4B27AB7-4459-DB87-7E09-8CD82FCD5E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extLst>
      <p:ext uri="{BB962C8B-B14F-4D97-AF65-F5344CB8AC3E}">
        <p14:creationId xmlns:p14="http://schemas.microsoft.com/office/powerpoint/2010/main" val="1580727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13E6E-5587-60B9-4350-EA7B7EF0E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4A27A-0334-EEFD-3D28-458E847C18F8}"/>
              </a:ext>
            </a:extLst>
          </p:cNvPr>
          <p:cNvSpPr>
            <a:spLocks noGrp="1"/>
          </p:cNvSpPr>
          <p:nvPr>
            <p:ph type="title"/>
          </p:nvPr>
        </p:nvSpPr>
        <p:spPr>
          <a:xfrm>
            <a:off x="353568" y="392575"/>
            <a:ext cx="6254495" cy="766200"/>
          </a:xfrm>
        </p:spPr>
        <p:txBody>
          <a:bodyPr/>
          <a:lstStyle/>
          <a:p>
            <a:r>
              <a:rPr lang="en-US" dirty="0"/>
              <a:t>Introduction to Web Accessibility </a:t>
            </a:r>
          </a:p>
        </p:txBody>
      </p:sp>
      <p:sp>
        <p:nvSpPr>
          <p:cNvPr id="3" name="Text Placeholder 2">
            <a:extLst>
              <a:ext uri="{FF2B5EF4-FFF2-40B4-BE49-F238E27FC236}">
                <a16:creationId xmlns:a16="http://schemas.microsoft.com/office/drawing/2014/main" id="{89A6C368-0A0E-89D8-EBD1-7D79C43DF789}"/>
              </a:ext>
            </a:extLst>
          </p:cNvPr>
          <p:cNvSpPr>
            <a:spLocks noGrp="1"/>
          </p:cNvSpPr>
          <p:nvPr>
            <p:ph type="body" idx="1"/>
          </p:nvPr>
        </p:nvSpPr>
        <p:spPr/>
        <p:txBody>
          <a:bodyPr/>
          <a:lstStyle/>
          <a:p>
            <a:r>
              <a:rPr lang="en-US" dirty="0"/>
              <a:t>Design for All Users Regardless of Ability</a:t>
            </a:r>
          </a:p>
          <a:p>
            <a:r>
              <a:rPr lang="en-US" dirty="0"/>
              <a:t>Screen Readers and Assistive Technologies</a:t>
            </a:r>
          </a:p>
          <a:p>
            <a:r>
              <a:rPr lang="en-US" dirty="0"/>
              <a:t>Semantic Code Value</a:t>
            </a:r>
          </a:p>
        </p:txBody>
      </p:sp>
      <p:sp>
        <p:nvSpPr>
          <p:cNvPr id="4" name="Slide Number Placeholder 3">
            <a:extLst>
              <a:ext uri="{FF2B5EF4-FFF2-40B4-BE49-F238E27FC236}">
                <a16:creationId xmlns:a16="http://schemas.microsoft.com/office/drawing/2014/main" id="{39A8EF9A-AEB4-7442-B38D-BA2E0263DC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extLst>
      <p:ext uri="{BB962C8B-B14F-4D97-AF65-F5344CB8AC3E}">
        <p14:creationId xmlns:p14="http://schemas.microsoft.com/office/powerpoint/2010/main" val="977107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1DDBD-9598-F94D-1AAD-D8D6C8F1B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B31D0-C19C-7EE0-7CEA-4F5B3B9C01A5}"/>
              </a:ext>
            </a:extLst>
          </p:cNvPr>
          <p:cNvSpPr>
            <a:spLocks noGrp="1"/>
          </p:cNvSpPr>
          <p:nvPr>
            <p:ph type="title"/>
          </p:nvPr>
        </p:nvSpPr>
        <p:spPr>
          <a:xfrm>
            <a:off x="0" y="404767"/>
            <a:ext cx="6593307" cy="766200"/>
          </a:xfrm>
        </p:spPr>
        <p:txBody>
          <a:bodyPr/>
          <a:lstStyle/>
          <a:p>
            <a:r>
              <a:rPr lang="en-US" dirty="0"/>
              <a:t>Responsive Web Design Principles</a:t>
            </a:r>
          </a:p>
        </p:txBody>
      </p:sp>
      <p:sp>
        <p:nvSpPr>
          <p:cNvPr id="3" name="Text Placeholder 2">
            <a:extLst>
              <a:ext uri="{FF2B5EF4-FFF2-40B4-BE49-F238E27FC236}">
                <a16:creationId xmlns:a16="http://schemas.microsoft.com/office/drawing/2014/main" id="{3FFDC819-5204-6ABE-ED05-82D0320FB3AD}"/>
              </a:ext>
            </a:extLst>
          </p:cNvPr>
          <p:cNvSpPr>
            <a:spLocks noGrp="1"/>
          </p:cNvSpPr>
          <p:nvPr>
            <p:ph type="body" idx="1"/>
          </p:nvPr>
        </p:nvSpPr>
        <p:spPr/>
        <p:txBody>
          <a:bodyPr/>
          <a:lstStyle/>
          <a:p>
            <a:r>
              <a:rPr lang="en-US" dirty="0"/>
              <a:t>One Codebase, Infinite Screen Sizes</a:t>
            </a:r>
          </a:p>
          <a:p>
            <a:r>
              <a:rPr lang="en-US" dirty="0"/>
              <a:t>Fluid Layout Grids vs Static Widths</a:t>
            </a:r>
          </a:p>
          <a:p>
            <a:r>
              <a:rPr lang="en-US" dirty="0"/>
              <a:t>Media Queries Adaption</a:t>
            </a:r>
          </a:p>
        </p:txBody>
      </p:sp>
      <p:sp>
        <p:nvSpPr>
          <p:cNvPr id="4" name="Slide Number Placeholder 3">
            <a:extLst>
              <a:ext uri="{FF2B5EF4-FFF2-40B4-BE49-F238E27FC236}">
                <a16:creationId xmlns:a16="http://schemas.microsoft.com/office/drawing/2014/main" id="{11E52F8F-8705-B841-92B8-BABF6AAC41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extLst>
      <p:ext uri="{BB962C8B-B14F-4D97-AF65-F5344CB8AC3E}">
        <p14:creationId xmlns:p14="http://schemas.microsoft.com/office/powerpoint/2010/main" val="3848107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674C0-3EFB-9AAF-EF3E-683C1FEC1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E7527-BEED-378E-45A7-FB80BF1717CE}"/>
              </a:ext>
            </a:extLst>
          </p:cNvPr>
          <p:cNvSpPr>
            <a:spLocks noGrp="1"/>
          </p:cNvSpPr>
          <p:nvPr>
            <p:ph type="title"/>
          </p:nvPr>
        </p:nvSpPr>
        <p:spPr>
          <a:xfrm>
            <a:off x="353568" y="392575"/>
            <a:ext cx="6254495" cy="766200"/>
          </a:xfrm>
        </p:spPr>
        <p:txBody>
          <a:bodyPr/>
          <a:lstStyle/>
          <a:p>
            <a:r>
              <a:rPr lang="en-US" dirty="0"/>
              <a:t>Document Object Model (DOM)</a:t>
            </a:r>
          </a:p>
        </p:txBody>
      </p:sp>
      <p:sp>
        <p:nvSpPr>
          <p:cNvPr id="3" name="Text Placeholder 2">
            <a:extLst>
              <a:ext uri="{FF2B5EF4-FFF2-40B4-BE49-F238E27FC236}">
                <a16:creationId xmlns:a16="http://schemas.microsoft.com/office/drawing/2014/main" id="{9CE0CC85-6795-3C4B-5D6A-ACA10DEBC95E}"/>
              </a:ext>
            </a:extLst>
          </p:cNvPr>
          <p:cNvSpPr>
            <a:spLocks noGrp="1"/>
          </p:cNvSpPr>
          <p:nvPr>
            <p:ph type="body" idx="1"/>
          </p:nvPr>
        </p:nvSpPr>
        <p:spPr/>
        <p:txBody>
          <a:bodyPr/>
          <a:lstStyle/>
          <a:p>
            <a:r>
              <a:rPr lang="en-US" dirty="0"/>
              <a:t>Living Memory Structure of a Page</a:t>
            </a:r>
          </a:p>
          <a:p>
            <a:r>
              <a:rPr lang="en-US" dirty="0"/>
              <a:t>How the Browser Maps HTML Elements</a:t>
            </a:r>
          </a:p>
          <a:p>
            <a:r>
              <a:rPr lang="en-US" dirty="0"/>
              <a:t>A Tree Hierarchy of Object Nodes</a:t>
            </a:r>
          </a:p>
        </p:txBody>
      </p:sp>
      <p:sp>
        <p:nvSpPr>
          <p:cNvPr id="4" name="Slide Number Placeholder 3">
            <a:extLst>
              <a:ext uri="{FF2B5EF4-FFF2-40B4-BE49-F238E27FC236}">
                <a16:creationId xmlns:a16="http://schemas.microsoft.com/office/drawing/2014/main" id="{54DF9BFD-12DA-5DF7-94A9-A0B1F0F747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extLst>
      <p:ext uri="{BB962C8B-B14F-4D97-AF65-F5344CB8AC3E}">
        <p14:creationId xmlns:p14="http://schemas.microsoft.com/office/powerpoint/2010/main" val="4251590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124F4-4B40-12C2-FD69-BFB5024F0E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7FD8A-44DF-F394-BDCA-C65215BB59BD}"/>
              </a:ext>
            </a:extLst>
          </p:cNvPr>
          <p:cNvSpPr>
            <a:spLocks noGrp="1"/>
          </p:cNvSpPr>
          <p:nvPr>
            <p:ph type="title"/>
          </p:nvPr>
        </p:nvSpPr>
        <p:spPr>
          <a:xfrm>
            <a:off x="353568" y="392575"/>
            <a:ext cx="6254495" cy="766200"/>
          </a:xfrm>
        </p:spPr>
        <p:txBody>
          <a:bodyPr/>
          <a:lstStyle/>
          <a:p>
            <a:endParaRPr lang="en-US" dirty="0"/>
          </a:p>
        </p:txBody>
      </p:sp>
      <p:sp>
        <p:nvSpPr>
          <p:cNvPr id="4" name="Slide Number Placeholder 3">
            <a:extLst>
              <a:ext uri="{FF2B5EF4-FFF2-40B4-BE49-F238E27FC236}">
                <a16:creationId xmlns:a16="http://schemas.microsoft.com/office/drawing/2014/main" id="{B48D50E9-4DBE-2CEE-7DF0-F8244556AA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pic>
        <p:nvPicPr>
          <p:cNvPr id="2050" name="Picture 2" descr="Diving into Document Object Model (DOM) Manipulation with JavaScript | by Sheryar Amir | Medium">
            <a:extLst>
              <a:ext uri="{FF2B5EF4-FFF2-40B4-BE49-F238E27FC236}">
                <a16:creationId xmlns:a16="http://schemas.microsoft.com/office/drawing/2014/main" id="{FA96ABB9-75EB-5FC7-162B-304AF9FFA5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756" y="1511808"/>
            <a:ext cx="7174347" cy="3526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794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DB44-40C1-5206-D6B2-BB874793B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C9373-8E29-7779-9A90-2B0906793F35}"/>
              </a:ext>
            </a:extLst>
          </p:cNvPr>
          <p:cNvSpPr>
            <a:spLocks noGrp="1"/>
          </p:cNvSpPr>
          <p:nvPr>
            <p:ph type="title"/>
          </p:nvPr>
        </p:nvSpPr>
        <p:spPr>
          <a:xfrm>
            <a:off x="353568" y="392575"/>
            <a:ext cx="6254495" cy="766200"/>
          </a:xfrm>
        </p:spPr>
        <p:txBody>
          <a:bodyPr/>
          <a:lstStyle/>
          <a:p>
            <a:r>
              <a:rPr lang="en-US" dirty="0"/>
              <a:t>Anatomy of a HTML Document</a:t>
            </a:r>
          </a:p>
        </p:txBody>
      </p:sp>
      <p:sp>
        <p:nvSpPr>
          <p:cNvPr id="3" name="Text Placeholder 2">
            <a:extLst>
              <a:ext uri="{FF2B5EF4-FFF2-40B4-BE49-F238E27FC236}">
                <a16:creationId xmlns:a16="http://schemas.microsoft.com/office/drawing/2014/main" id="{EA54B40F-174C-355E-F47C-E5E52C45518C}"/>
              </a:ext>
            </a:extLst>
          </p:cNvPr>
          <p:cNvSpPr>
            <a:spLocks noGrp="1"/>
          </p:cNvSpPr>
          <p:nvPr>
            <p:ph type="body" idx="1"/>
          </p:nvPr>
        </p:nvSpPr>
        <p:spPr/>
        <p:txBody>
          <a:bodyPr/>
          <a:lstStyle/>
          <a:p>
            <a:r>
              <a:rPr lang="en-US" dirty="0"/>
              <a:t>Document type Declaration</a:t>
            </a:r>
          </a:p>
          <a:p>
            <a:pPr lvl="1"/>
            <a:r>
              <a:rPr lang="en-US" dirty="0"/>
              <a:t>(</a:t>
            </a:r>
            <a:r>
              <a:rPr lang="en-US" b="1" dirty="0"/>
              <a:t>&lt;!DOCTYPE html/&gt;)</a:t>
            </a:r>
            <a:endParaRPr lang="en-US" dirty="0"/>
          </a:p>
          <a:p>
            <a:r>
              <a:rPr lang="en-US" dirty="0"/>
              <a:t>Page Root Element</a:t>
            </a:r>
          </a:p>
          <a:p>
            <a:pPr lvl="1"/>
            <a:r>
              <a:rPr lang="en-US" dirty="0"/>
              <a:t>(</a:t>
            </a:r>
            <a:r>
              <a:rPr lang="en-US" b="1" dirty="0"/>
              <a:t>&lt;html&gt;</a:t>
            </a:r>
            <a:r>
              <a:rPr lang="en-US" dirty="0"/>
              <a:t>)</a:t>
            </a:r>
          </a:p>
          <a:p>
            <a:r>
              <a:rPr lang="en-US" dirty="0"/>
              <a:t>Head vs Body Code Divisions</a:t>
            </a:r>
          </a:p>
          <a:p>
            <a:pPr lvl="1"/>
            <a:endParaRPr lang="en-US" b="1" dirty="0"/>
          </a:p>
        </p:txBody>
      </p:sp>
      <p:sp>
        <p:nvSpPr>
          <p:cNvPr id="4" name="Slide Number Placeholder 3">
            <a:extLst>
              <a:ext uri="{FF2B5EF4-FFF2-40B4-BE49-F238E27FC236}">
                <a16:creationId xmlns:a16="http://schemas.microsoft.com/office/drawing/2014/main" id="{0F56FE33-5333-09A4-4814-244070A6AF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Tree>
    <p:extLst>
      <p:ext uri="{BB962C8B-B14F-4D97-AF65-F5344CB8AC3E}">
        <p14:creationId xmlns:p14="http://schemas.microsoft.com/office/powerpoint/2010/main" val="4199177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E19C-A28E-85BF-CBFE-AE1C87F74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1B1E7-90F3-509A-FA03-319C340AB81D}"/>
              </a:ext>
            </a:extLst>
          </p:cNvPr>
          <p:cNvSpPr>
            <a:spLocks noGrp="1"/>
          </p:cNvSpPr>
          <p:nvPr>
            <p:ph type="title"/>
          </p:nvPr>
        </p:nvSpPr>
        <p:spPr>
          <a:xfrm>
            <a:off x="353568" y="392575"/>
            <a:ext cx="6254495" cy="766200"/>
          </a:xfrm>
        </p:spPr>
        <p:txBody>
          <a:bodyPr/>
          <a:lstStyle/>
          <a:p>
            <a:r>
              <a:rPr lang="en-US" dirty="0"/>
              <a:t>The Head vs Body Element</a:t>
            </a:r>
          </a:p>
        </p:txBody>
      </p:sp>
      <p:sp>
        <p:nvSpPr>
          <p:cNvPr id="3" name="Text Placeholder 2">
            <a:extLst>
              <a:ext uri="{FF2B5EF4-FFF2-40B4-BE49-F238E27FC236}">
                <a16:creationId xmlns:a16="http://schemas.microsoft.com/office/drawing/2014/main" id="{C6D2E4D6-52B7-4431-6472-57F6C9C145AA}"/>
              </a:ext>
            </a:extLst>
          </p:cNvPr>
          <p:cNvSpPr>
            <a:spLocks noGrp="1"/>
          </p:cNvSpPr>
          <p:nvPr>
            <p:ph type="body" idx="1"/>
          </p:nvPr>
        </p:nvSpPr>
        <p:spPr/>
        <p:txBody>
          <a:bodyPr/>
          <a:lstStyle/>
          <a:p>
            <a:r>
              <a:rPr lang="en-US" dirty="0"/>
              <a:t>&lt;</a:t>
            </a:r>
            <a:r>
              <a:rPr lang="en-US" b="1" dirty="0"/>
              <a:t>head&gt; </a:t>
            </a:r>
            <a:r>
              <a:rPr lang="en-US" dirty="0"/>
              <a:t>Hidden Document Metadata &amp; Tab Titles</a:t>
            </a:r>
          </a:p>
          <a:p>
            <a:r>
              <a:rPr lang="en-US" dirty="0"/>
              <a:t>&lt;</a:t>
            </a:r>
            <a:r>
              <a:rPr lang="en-US" b="1" dirty="0"/>
              <a:t>body&gt;</a:t>
            </a:r>
            <a:r>
              <a:rPr lang="en-US" dirty="0"/>
              <a:t> Visible Content Layer</a:t>
            </a:r>
          </a:p>
          <a:p>
            <a:r>
              <a:rPr lang="en-US" dirty="0"/>
              <a:t>Structural Isolation Rules</a:t>
            </a:r>
          </a:p>
        </p:txBody>
      </p:sp>
      <p:sp>
        <p:nvSpPr>
          <p:cNvPr id="4" name="Slide Number Placeholder 3">
            <a:extLst>
              <a:ext uri="{FF2B5EF4-FFF2-40B4-BE49-F238E27FC236}">
                <a16:creationId xmlns:a16="http://schemas.microsoft.com/office/drawing/2014/main" id="{213F4FF6-C0A0-95E7-029E-27F0984C25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extLst>
      <p:ext uri="{BB962C8B-B14F-4D97-AF65-F5344CB8AC3E}">
        <p14:creationId xmlns:p14="http://schemas.microsoft.com/office/powerpoint/2010/main" val="3018234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B1AB0-8727-B0FD-B3EB-7343A4FF2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1FA4C-220B-5C79-BB9C-0BD606A163C2}"/>
              </a:ext>
            </a:extLst>
          </p:cNvPr>
          <p:cNvSpPr>
            <a:spLocks noGrp="1"/>
          </p:cNvSpPr>
          <p:nvPr>
            <p:ph type="title"/>
          </p:nvPr>
        </p:nvSpPr>
        <p:spPr>
          <a:xfrm>
            <a:off x="353568" y="392575"/>
            <a:ext cx="6254495" cy="766200"/>
          </a:xfrm>
        </p:spPr>
        <p:txBody>
          <a:bodyPr/>
          <a:lstStyle/>
          <a:p>
            <a:r>
              <a:rPr lang="en-US" dirty="0"/>
              <a:t>Semantic Text Hierarchies</a:t>
            </a:r>
          </a:p>
        </p:txBody>
      </p:sp>
      <p:sp>
        <p:nvSpPr>
          <p:cNvPr id="3" name="Text Placeholder 2">
            <a:extLst>
              <a:ext uri="{FF2B5EF4-FFF2-40B4-BE49-F238E27FC236}">
                <a16:creationId xmlns:a16="http://schemas.microsoft.com/office/drawing/2014/main" id="{06403320-0139-C90B-279D-A74ED7081E07}"/>
              </a:ext>
            </a:extLst>
          </p:cNvPr>
          <p:cNvSpPr>
            <a:spLocks noGrp="1"/>
          </p:cNvSpPr>
          <p:nvPr>
            <p:ph type="body" idx="1"/>
          </p:nvPr>
        </p:nvSpPr>
        <p:spPr/>
        <p:txBody>
          <a:bodyPr/>
          <a:lstStyle/>
          <a:p>
            <a:r>
              <a:rPr lang="en-US" dirty="0"/>
              <a:t>Heading Element( </a:t>
            </a:r>
            <a:r>
              <a:rPr lang="en-US" b="1" dirty="0"/>
              <a:t>&lt;h1&gt;</a:t>
            </a:r>
            <a:r>
              <a:rPr lang="en-US" dirty="0"/>
              <a:t> through </a:t>
            </a:r>
            <a:r>
              <a:rPr lang="en-US" b="1" dirty="0"/>
              <a:t>&lt;h6&gt;</a:t>
            </a:r>
            <a:r>
              <a:rPr lang="en-US" dirty="0"/>
              <a:t>)</a:t>
            </a:r>
          </a:p>
          <a:p>
            <a:r>
              <a:rPr lang="en-US" dirty="0"/>
              <a:t>Paragraph Tag Structures </a:t>
            </a:r>
            <a:r>
              <a:rPr lang="en-US" b="1" dirty="0"/>
              <a:t>&lt;p&gt;</a:t>
            </a:r>
          </a:p>
          <a:p>
            <a:r>
              <a:rPr lang="en-US" dirty="0"/>
              <a:t>Establish a Clear Structural Outline</a:t>
            </a:r>
          </a:p>
        </p:txBody>
      </p:sp>
      <p:sp>
        <p:nvSpPr>
          <p:cNvPr id="4" name="Slide Number Placeholder 3">
            <a:extLst>
              <a:ext uri="{FF2B5EF4-FFF2-40B4-BE49-F238E27FC236}">
                <a16:creationId xmlns:a16="http://schemas.microsoft.com/office/drawing/2014/main" id="{C45BC07D-8247-CC92-724C-5877F556BA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extLst>
      <p:ext uri="{BB962C8B-B14F-4D97-AF65-F5344CB8AC3E}">
        <p14:creationId xmlns:p14="http://schemas.microsoft.com/office/powerpoint/2010/main" val="8315420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7530C-2738-553C-17AC-CE66565CB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C27C0-EA18-5C9E-BAC3-3309FF7D32E1}"/>
              </a:ext>
            </a:extLst>
          </p:cNvPr>
          <p:cNvSpPr>
            <a:spLocks noGrp="1"/>
          </p:cNvSpPr>
          <p:nvPr>
            <p:ph type="title"/>
          </p:nvPr>
        </p:nvSpPr>
        <p:spPr>
          <a:xfrm>
            <a:off x="353568" y="392575"/>
            <a:ext cx="6254495" cy="766200"/>
          </a:xfrm>
        </p:spPr>
        <p:txBody>
          <a:bodyPr/>
          <a:lstStyle/>
          <a:p>
            <a:r>
              <a:rPr lang="en-US" dirty="0"/>
              <a:t>Document Structural Formatting Elements</a:t>
            </a:r>
          </a:p>
        </p:txBody>
      </p:sp>
      <p:sp>
        <p:nvSpPr>
          <p:cNvPr id="3" name="Text Placeholder 2">
            <a:extLst>
              <a:ext uri="{FF2B5EF4-FFF2-40B4-BE49-F238E27FC236}">
                <a16:creationId xmlns:a16="http://schemas.microsoft.com/office/drawing/2014/main" id="{3F937436-4A23-B1EB-97DB-8C03687AA515}"/>
              </a:ext>
            </a:extLst>
          </p:cNvPr>
          <p:cNvSpPr>
            <a:spLocks noGrp="1"/>
          </p:cNvSpPr>
          <p:nvPr>
            <p:ph type="body" idx="1"/>
          </p:nvPr>
        </p:nvSpPr>
        <p:spPr/>
        <p:txBody>
          <a:bodyPr/>
          <a:lstStyle/>
          <a:p>
            <a:r>
              <a:rPr lang="en-US" dirty="0"/>
              <a:t>Header, Navigation, and Main content areas</a:t>
            </a:r>
          </a:p>
          <a:p>
            <a:r>
              <a:rPr lang="en-US" dirty="0"/>
              <a:t>&lt;header&gt;, &lt;nav&gt;, &lt;main&gt;</a:t>
            </a:r>
          </a:p>
          <a:p>
            <a:r>
              <a:rPr lang="en-US" dirty="0"/>
              <a:t>&lt;footer&gt; Document baseplate</a:t>
            </a:r>
          </a:p>
        </p:txBody>
      </p:sp>
      <p:sp>
        <p:nvSpPr>
          <p:cNvPr id="4" name="Slide Number Placeholder 3">
            <a:extLst>
              <a:ext uri="{FF2B5EF4-FFF2-40B4-BE49-F238E27FC236}">
                <a16:creationId xmlns:a16="http://schemas.microsoft.com/office/drawing/2014/main" id="{D0BAF609-7F21-712A-0C6E-3A5B11B152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Tree>
    <p:extLst>
      <p:ext uri="{BB962C8B-B14F-4D97-AF65-F5344CB8AC3E}">
        <p14:creationId xmlns:p14="http://schemas.microsoft.com/office/powerpoint/2010/main" val="280265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3EBC-7A29-D55D-A6A8-AE94D2450B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1E6BF-08EA-565A-C39F-B1820E3CCB33}"/>
              </a:ext>
            </a:extLst>
          </p:cNvPr>
          <p:cNvSpPr>
            <a:spLocks noGrp="1"/>
          </p:cNvSpPr>
          <p:nvPr>
            <p:ph type="title"/>
          </p:nvPr>
        </p:nvSpPr>
        <p:spPr>
          <a:xfrm>
            <a:off x="353568" y="392575"/>
            <a:ext cx="6254495" cy="766200"/>
          </a:xfrm>
        </p:spPr>
        <p:txBody>
          <a:bodyPr/>
          <a:lstStyle/>
          <a:p>
            <a:r>
              <a:rPr lang="en-US" dirty="0"/>
              <a:t>Structural formatting in Practice</a:t>
            </a:r>
          </a:p>
        </p:txBody>
      </p:sp>
      <p:sp>
        <p:nvSpPr>
          <p:cNvPr id="4" name="Slide Number Placeholder 3">
            <a:extLst>
              <a:ext uri="{FF2B5EF4-FFF2-40B4-BE49-F238E27FC236}">
                <a16:creationId xmlns:a16="http://schemas.microsoft.com/office/drawing/2014/main" id="{4627214B-A44A-2ADA-CF36-0614852158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pic>
        <p:nvPicPr>
          <p:cNvPr id="3074" name="Picture 2">
            <a:extLst>
              <a:ext uri="{FF2B5EF4-FFF2-40B4-BE49-F238E27FC236}">
                <a16:creationId xmlns:a16="http://schemas.microsoft.com/office/drawing/2014/main" id="{23E9127F-A245-FA5D-1CB2-C0146CE2C1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832" y="1459611"/>
            <a:ext cx="5943600"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668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Q&amp;A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pic>
        <p:nvPicPr>
          <p:cNvPr id="5" name="Picture 4"/>
          <p:cNvPicPr>
            <a:picLocks noChangeAspect="1"/>
          </p:cNvPicPr>
          <p:nvPr/>
        </p:nvPicPr>
        <p:blipFill>
          <a:blip r:embed="rId2"/>
          <a:stretch>
            <a:fillRect/>
          </a:stretch>
        </p:blipFill>
        <p:spPr>
          <a:xfrm>
            <a:off x="814275" y="1862668"/>
            <a:ext cx="4402663" cy="1761065"/>
          </a:xfrm>
          <a:prstGeom prst="rect">
            <a:avLst/>
          </a:prstGeom>
        </p:spPr>
      </p:pic>
      <p:pic>
        <p:nvPicPr>
          <p:cNvPr id="6" name="Picture 5"/>
          <p:cNvPicPr>
            <a:picLocks noChangeAspect="1"/>
          </p:cNvPicPr>
          <p:nvPr/>
        </p:nvPicPr>
        <p:blipFill>
          <a:blip r:embed="rId3"/>
          <a:stretch>
            <a:fillRect/>
          </a:stretch>
        </p:blipFill>
        <p:spPr>
          <a:xfrm>
            <a:off x="5912731" y="1862668"/>
            <a:ext cx="1944335" cy="1944335"/>
          </a:xfrm>
          <a:prstGeom prst="rect">
            <a:avLst/>
          </a:prstGeom>
        </p:spPr>
      </p:pic>
    </p:spTree>
    <p:extLst>
      <p:ext uri="{BB962C8B-B14F-4D97-AF65-F5344CB8AC3E}">
        <p14:creationId xmlns:p14="http://schemas.microsoft.com/office/powerpoint/2010/main" val="2863282085"/>
      </p:ext>
    </p:extLst>
  </p:cSld>
  <p:clrMapOvr>
    <a:masterClrMapping/>
  </p:clrMapOvr>
</p:sld>
</file>

<file path=ppt/theme/theme1.xml><?xml version="1.0" encoding="utf-8"?>
<a:theme xmlns:a="http://schemas.openxmlformats.org/drawingml/2006/main" name="Saleri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0</TotalTime>
  <Words>1542</Words>
  <Application>Microsoft Office PowerPoint</Application>
  <PresentationFormat>On-screen Show (16:9)</PresentationFormat>
  <Paragraphs>163</Paragraphs>
  <Slides>30</Slides>
  <Notes>28</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Salerio template</vt:lpstr>
      <vt:lpstr>IS 312 Web Design and Programing</vt:lpstr>
      <vt:lpstr>Welcome To Web Design</vt:lpstr>
      <vt:lpstr>The Modern Web Team</vt:lpstr>
      <vt:lpstr>Essential Software Tools</vt:lpstr>
      <vt:lpstr>Version Control &amp; Git Foundation</vt:lpstr>
      <vt:lpstr>Remote Collaboration and &amp; Branching </vt:lpstr>
      <vt:lpstr>Peer Review &amp; Continuous Integration</vt:lpstr>
      <vt:lpstr>Code Deployment Mechanics</vt:lpstr>
      <vt:lpstr>Introduction to Web Architecture</vt:lpstr>
      <vt:lpstr>The Client: Browser as Interpreters</vt:lpstr>
      <vt:lpstr>The Server: Data Guardians</vt:lpstr>
      <vt:lpstr>Demystifying the URL</vt:lpstr>
      <vt:lpstr>DNS: The Internet’s Phonebook</vt:lpstr>
      <vt:lpstr>Hurricane Electric Network Map</vt:lpstr>
      <vt:lpstr>Anatomy of an HTTP Request</vt:lpstr>
      <vt:lpstr>Anatomy of an HTTP Response</vt:lpstr>
      <vt:lpstr>Bandwidth and Network Latency</vt:lpstr>
      <vt:lpstr>Cloud Infrastructure and Edge Hosting</vt:lpstr>
      <vt:lpstr>Core Web Design Philosophies</vt:lpstr>
      <vt:lpstr>Progressive Enhancement</vt:lpstr>
      <vt:lpstr>Introduction to Web Accessibility </vt:lpstr>
      <vt:lpstr>Responsive Web Design Principles</vt:lpstr>
      <vt:lpstr>Document Object Model (DOM)</vt:lpstr>
      <vt:lpstr>PowerPoint Presentation</vt:lpstr>
      <vt:lpstr>Anatomy of a HTML Document</vt:lpstr>
      <vt:lpstr>The Head vs Body Element</vt:lpstr>
      <vt:lpstr>Semantic Text Hierarchies</vt:lpstr>
      <vt:lpstr>Document Structural Formatting Elements</vt:lpstr>
      <vt:lpstr>Structural formatting in Practice</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Karthik Dinakaran</dc:creator>
  <cp:lastModifiedBy>Jonathan Koerber</cp:lastModifiedBy>
  <cp:revision>3</cp:revision>
  <dcterms:modified xsi:type="dcterms:W3CDTF">2026-07-31T01:38:41Z</dcterms:modified>
</cp:coreProperties>
</file>